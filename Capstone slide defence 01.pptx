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5" r:id="rId4"/>
    <p:sldId id="257" r:id="rId5"/>
    <p:sldId id="258" r:id="rId6"/>
    <p:sldId id="259" r:id="rId7"/>
    <p:sldId id="262" r:id="rId8"/>
    <p:sldId id="264" r:id="rId9"/>
    <p:sldId id="260"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1F22"/>
    <a:srgbClr val="3A272B"/>
    <a:srgbClr val="EE4B7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17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BB018-D3FD-9837-FFCF-F7F02A7A58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D719768-26D6-83C8-4AC0-520F08B0AE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32675C2-A146-11CD-0AE8-C7D396CD19AD}"/>
              </a:ext>
            </a:extLst>
          </p:cNvPr>
          <p:cNvSpPr>
            <a:spLocks noGrp="1"/>
          </p:cNvSpPr>
          <p:nvPr>
            <p:ph type="dt" sz="half" idx="10"/>
          </p:nvPr>
        </p:nvSpPr>
        <p:spPr/>
        <p:txBody>
          <a:bodyPr/>
          <a:lstStyle/>
          <a:p>
            <a:fld id="{0AC16868-432E-4164-9969-85079BCDDBB9}" type="datetimeFigureOut">
              <a:rPr lang="en-GB" smtClean="0"/>
              <a:t>22/07/2023</a:t>
            </a:fld>
            <a:endParaRPr lang="en-GB"/>
          </a:p>
        </p:txBody>
      </p:sp>
      <p:sp>
        <p:nvSpPr>
          <p:cNvPr id="5" name="Footer Placeholder 4">
            <a:extLst>
              <a:ext uri="{FF2B5EF4-FFF2-40B4-BE49-F238E27FC236}">
                <a16:creationId xmlns:a16="http://schemas.microsoft.com/office/drawing/2014/main" id="{515D00E8-5CF3-E268-7EA2-0C53E215B8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6A5287D-38C1-B4C7-1467-998A8B616945}"/>
              </a:ext>
            </a:extLst>
          </p:cNvPr>
          <p:cNvSpPr>
            <a:spLocks noGrp="1"/>
          </p:cNvSpPr>
          <p:nvPr>
            <p:ph type="sldNum" sz="quarter" idx="12"/>
          </p:nvPr>
        </p:nvSpPr>
        <p:spPr/>
        <p:txBody>
          <a:bodyPr/>
          <a:lstStyle/>
          <a:p>
            <a:fld id="{84DDF66F-B3DC-4AC1-8AD1-865EA05EA263}" type="slidenum">
              <a:rPr lang="en-GB" smtClean="0"/>
              <a:t>‹#›</a:t>
            </a:fld>
            <a:endParaRPr lang="en-GB"/>
          </a:p>
        </p:txBody>
      </p:sp>
    </p:spTree>
    <p:extLst>
      <p:ext uri="{BB962C8B-B14F-4D97-AF65-F5344CB8AC3E}">
        <p14:creationId xmlns:p14="http://schemas.microsoft.com/office/powerpoint/2010/main" val="1742350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6FE16-390D-083B-DEDD-08445C6302B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FB5863E-E0FB-CDC7-F9AD-BD1C59ABFE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C47D78-9651-4FFE-C68C-312925D9005F}"/>
              </a:ext>
            </a:extLst>
          </p:cNvPr>
          <p:cNvSpPr>
            <a:spLocks noGrp="1"/>
          </p:cNvSpPr>
          <p:nvPr>
            <p:ph type="dt" sz="half" idx="10"/>
          </p:nvPr>
        </p:nvSpPr>
        <p:spPr/>
        <p:txBody>
          <a:bodyPr/>
          <a:lstStyle/>
          <a:p>
            <a:fld id="{0AC16868-432E-4164-9969-85079BCDDBB9}" type="datetimeFigureOut">
              <a:rPr lang="en-GB" smtClean="0"/>
              <a:t>22/07/2023</a:t>
            </a:fld>
            <a:endParaRPr lang="en-GB"/>
          </a:p>
        </p:txBody>
      </p:sp>
      <p:sp>
        <p:nvSpPr>
          <p:cNvPr id="5" name="Footer Placeholder 4">
            <a:extLst>
              <a:ext uri="{FF2B5EF4-FFF2-40B4-BE49-F238E27FC236}">
                <a16:creationId xmlns:a16="http://schemas.microsoft.com/office/drawing/2014/main" id="{1371C436-8FB6-D49B-3F31-B7414B921B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FAFC6F-36FE-AD67-7ED6-1D4D137641F2}"/>
              </a:ext>
            </a:extLst>
          </p:cNvPr>
          <p:cNvSpPr>
            <a:spLocks noGrp="1"/>
          </p:cNvSpPr>
          <p:nvPr>
            <p:ph type="sldNum" sz="quarter" idx="12"/>
          </p:nvPr>
        </p:nvSpPr>
        <p:spPr/>
        <p:txBody>
          <a:bodyPr/>
          <a:lstStyle/>
          <a:p>
            <a:fld id="{84DDF66F-B3DC-4AC1-8AD1-865EA05EA263}" type="slidenum">
              <a:rPr lang="en-GB" smtClean="0"/>
              <a:t>‹#›</a:t>
            </a:fld>
            <a:endParaRPr lang="en-GB"/>
          </a:p>
        </p:txBody>
      </p:sp>
    </p:spTree>
    <p:extLst>
      <p:ext uri="{BB962C8B-B14F-4D97-AF65-F5344CB8AC3E}">
        <p14:creationId xmlns:p14="http://schemas.microsoft.com/office/powerpoint/2010/main" val="240155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100FC-5228-ECFF-EEE6-0FE84E9D0F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D198DE0-F915-6C98-5EAE-777672743B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E94A38-0734-3397-C1A0-7122ABF14057}"/>
              </a:ext>
            </a:extLst>
          </p:cNvPr>
          <p:cNvSpPr>
            <a:spLocks noGrp="1"/>
          </p:cNvSpPr>
          <p:nvPr>
            <p:ph type="dt" sz="half" idx="10"/>
          </p:nvPr>
        </p:nvSpPr>
        <p:spPr/>
        <p:txBody>
          <a:bodyPr/>
          <a:lstStyle/>
          <a:p>
            <a:fld id="{0AC16868-432E-4164-9969-85079BCDDBB9}" type="datetimeFigureOut">
              <a:rPr lang="en-GB" smtClean="0"/>
              <a:t>22/07/2023</a:t>
            </a:fld>
            <a:endParaRPr lang="en-GB"/>
          </a:p>
        </p:txBody>
      </p:sp>
      <p:sp>
        <p:nvSpPr>
          <p:cNvPr id="5" name="Footer Placeholder 4">
            <a:extLst>
              <a:ext uri="{FF2B5EF4-FFF2-40B4-BE49-F238E27FC236}">
                <a16:creationId xmlns:a16="http://schemas.microsoft.com/office/drawing/2014/main" id="{9F90E43D-D936-E806-49FC-546732F53FC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88E93D1-5CE4-F805-5FD1-CE4D6C80EE51}"/>
              </a:ext>
            </a:extLst>
          </p:cNvPr>
          <p:cNvSpPr>
            <a:spLocks noGrp="1"/>
          </p:cNvSpPr>
          <p:nvPr>
            <p:ph type="sldNum" sz="quarter" idx="12"/>
          </p:nvPr>
        </p:nvSpPr>
        <p:spPr/>
        <p:txBody>
          <a:bodyPr/>
          <a:lstStyle/>
          <a:p>
            <a:fld id="{84DDF66F-B3DC-4AC1-8AD1-865EA05EA263}" type="slidenum">
              <a:rPr lang="en-GB" smtClean="0"/>
              <a:t>‹#›</a:t>
            </a:fld>
            <a:endParaRPr lang="en-GB"/>
          </a:p>
        </p:txBody>
      </p:sp>
    </p:spTree>
    <p:extLst>
      <p:ext uri="{BB962C8B-B14F-4D97-AF65-F5344CB8AC3E}">
        <p14:creationId xmlns:p14="http://schemas.microsoft.com/office/powerpoint/2010/main" val="474225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3D2E-DC4E-C5D9-1232-E9B4165B2DA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16D2B78-E70F-D03A-6675-2C570B3B13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26C3B1A-0670-2884-8FEA-FFE4EED14F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FBF10FE-2144-09C1-EECD-D7467DEA3476}"/>
              </a:ext>
            </a:extLst>
          </p:cNvPr>
          <p:cNvSpPr>
            <a:spLocks noGrp="1"/>
          </p:cNvSpPr>
          <p:nvPr>
            <p:ph type="dt" sz="half" idx="10"/>
          </p:nvPr>
        </p:nvSpPr>
        <p:spPr/>
        <p:txBody>
          <a:bodyPr/>
          <a:lstStyle/>
          <a:p>
            <a:fld id="{0AC16868-432E-4164-9969-85079BCDDBB9}" type="datetimeFigureOut">
              <a:rPr lang="en-GB" smtClean="0"/>
              <a:t>22/07/2023</a:t>
            </a:fld>
            <a:endParaRPr lang="en-GB"/>
          </a:p>
        </p:txBody>
      </p:sp>
      <p:sp>
        <p:nvSpPr>
          <p:cNvPr id="6" name="Footer Placeholder 5">
            <a:extLst>
              <a:ext uri="{FF2B5EF4-FFF2-40B4-BE49-F238E27FC236}">
                <a16:creationId xmlns:a16="http://schemas.microsoft.com/office/drawing/2014/main" id="{34FAA9F2-2DD3-A381-D9DF-E4E34DBFC97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949AB19-1B79-8DB0-1009-AF0FD3C759F3}"/>
              </a:ext>
            </a:extLst>
          </p:cNvPr>
          <p:cNvSpPr>
            <a:spLocks noGrp="1"/>
          </p:cNvSpPr>
          <p:nvPr>
            <p:ph type="sldNum" sz="quarter" idx="12"/>
          </p:nvPr>
        </p:nvSpPr>
        <p:spPr/>
        <p:txBody>
          <a:bodyPr/>
          <a:lstStyle/>
          <a:p>
            <a:fld id="{84DDF66F-B3DC-4AC1-8AD1-865EA05EA263}" type="slidenum">
              <a:rPr lang="en-GB" smtClean="0"/>
              <a:t>‹#›</a:t>
            </a:fld>
            <a:endParaRPr lang="en-GB"/>
          </a:p>
        </p:txBody>
      </p:sp>
    </p:spTree>
    <p:extLst>
      <p:ext uri="{BB962C8B-B14F-4D97-AF65-F5344CB8AC3E}">
        <p14:creationId xmlns:p14="http://schemas.microsoft.com/office/powerpoint/2010/main" val="1004219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6D6B2-1B9F-19C5-6408-5BEE8ACB829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D5D717D-D308-2AC3-725E-866D3945F7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2B201C-1D1A-5BEA-2380-68B37DC57B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7AE0FE1-A19D-7C74-15CC-61BC813DE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E93BC9-A21C-687A-3F6E-1B2E7EF960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7985B25-4C7F-9065-83D8-FA7D92B83824}"/>
              </a:ext>
            </a:extLst>
          </p:cNvPr>
          <p:cNvSpPr>
            <a:spLocks noGrp="1"/>
          </p:cNvSpPr>
          <p:nvPr>
            <p:ph type="dt" sz="half" idx="10"/>
          </p:nvPr>
        </p:nvSpPr>
        <p:spPr/>
        <p:txBody>
          <a:bodyPr/>
          <a:lstStyle/>
          <a:p>
            <a:fld id="{0AC16868-432E-4164-9969-85079BCDDBB9}" type="datetimeFigureOut">
              <a:rPr lang="en-GB" smtClean="0"/>
              <a:t>22/07/2023</a:t>
            </a:fld>
            <a:endParaRPr lang="en-GB"/>
          </a:p>
        </p:txBody>
      </p:sp>
      <p:sp>
        <p:nvSpPr>
          <p:cNvPr id="8" name="Footer Placeholder 7">
            <a:extLst>
              <a:ext uri="{FF2B5EF4-FFF2-40B4-BE49-F238E27FC236}">
                <a16:creationId xmlns:a16="http://schemas.microsoft.com/office/drawing/2014/main" id="{DB2FC2BA-4769-F6DD-2C18-1061B43DCD5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C094648-088D-FE63-C363-B75E23AE661E}"/>
              </a:ext>
            </a:extLst>
          </p:cNvPr>
          <p:cNvSpPr>
            <a:spLocks noGrp="1"/>
          </p:cNvSpPr>
          <p:nvPr>
            <p:ph type="sldNum" sz="quarter" idx="12"/>
          </p:nvPr>
        </p:nvSpPr>
        <p:spPr/>
        <p:txBody>
          <a:bodyPr/>
          <a:lstStyle/>
          <a:p>
            <a:fld id="{84DDF66F-B3DC-4AC1-8AD1-865EA05EA263}" type="slidenum">
              <a:rPr lang="en-GB" smtClean="0"/>
              <a:t>‹#›</a:t>
            </a:fld>
            <a:endParaRPr lang="en-GB"/>
          </a:p>
        </p:txBody>
      </p:sp>
    </p:spTree>
    <p:extLst>
      <p:ext uri="{BB962C8B-B14F-4D97-AF65-F5344CB8AC3E}">
        <p14:creationId xmlns:p14="http://schemas.microsoft.com/office/powerpoint/2010/main" val="874813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F58F0-D0C8-2A51-52B6-3857236737C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D89CF7E-17A2-D752-5B89-DE94BB5D0C02}"/>
              </a:ext>
            </a:extLst>
          </p:cNvPr>
          <p:cNvSpPr>
            <a:spLocks noGrp="1"/>
          </p:cNvSpPr>
          <p:nvPr>
            <p:ph type="dt" sz="half" idx="10"/>
          </p:nvPr>
        </p:nvSpPr>
        <p:spPr/>
        <p:txBody>
          <a:bodyPr/>
          <a:lstStyle/>
          <a:p>
            <a:fld id="{0AC16868-432E-4164-9969-85079BCDDBB9}" type="datetimeFigureOut">
              <a:rPr lang="en-GB" smtClean="0"/>
              <a:t>22/07/2023</a:t>
            </a:fld>
            <a:endParaRPr lang="en-GB"/>
          </a:p>
        </p:txBody>
      </p:sp>
      <p:sp>
        <p:nvSpPr>
          <p:cNvPr id="4" name="Footer Placeholder 3">
            <a:extLst>
              <a:ext uri="{FF2B5EF4-FFF2-40B4-BE49-F238E27FC236}">
                <a16:creationId xmlns:a16="http://schemas.microsoft.com/office/drawing/2014/main" id="{568D6AF6-9978-5BF9-1A9D-1C45B8B31BD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55D1081-2F78-A154-737F-3FA8B0577A3D}"/>
              </a:ext>
            </a:extLst>
          </p:cNvPr>
          <p:cNvSpPr>
            <a:spLocks noGrp="1"/>
          </p:cNvSpPr>
          <p:nvPr>
            <p:ph type="sldNum" sz="quarter" idx="12"/>
          </p:nvPr>
        </p:nvSpPr>
        <p:spPr/>
        <p:txBody>
          <a:bodyPr/>
          <a:lstStyle/>
          <a:p>
            <a:fld id="{84DDF66F-B3DC-4AC1-8AD1-865EA05EA263}" type="slidenum">
              <a:rPr lang="en-GB" smtClean="0"/>
              <a:t>‹#›</a:t>
            </a:fld>
            <a:endParaRPr lang="en-GB"/>
          </a:p>
        </p:txBody>
      </p:sp>
    </p:spTree>
    <p:extLst>
      <p:ext uri="{BB962C8B-B14F-4D97-AF65-F5344CB8AC3E}">
        <p14:creationId xmlns:p14="http://schemas.microsoft.com/office/powerpoint/2010/main" val="3157431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5F5C6C-DFBD-29EA-AB35-727D51011E26}"/>
              </a:ext>
            </a:extLst>
          </p:cNvPr>
          <p:cNvSpPr>
            <a:spLocks noGrp="1"/>
          </p:cNvSpPr>
          <p:nvPr>
            <p:ph type="dt" sz="half" idx="10"/>
          </p:nvPr>
        </p:nvSpPr>
        <p:spPr/>
        <p:txBody>
          <a:bodyPr/>
          <a:lstStyle/>
          <a:p>
            <a:fld id="{0AC16868-432E-4164-9969-85079BCDDBB9}" type="datetimeFigureOut">
              <a:rPr lang="en-GB" smtClean="0"/>
              <a:t>22/07/2023</a:t>
            </a:fld>
            <a:endParaRPr lang="en-GB"/>
          </a:p>
        </p:txBody>
      </p:sp>
      <p:sp>
        <p:nvSpPr>
          <p:cNvPr id="3" name="Footer Placeholder 2">
            <a:extLst>
              <a:ext uri="{FF2B5EF4-FFF2-40B4-BE49-F238E27FC236}">
                <a16:creationId xmlns:a16="http://schemas.microsoft.com/office/drawing/2014/main" id="{E7FFCC24-27B1-64AF-DB7B-AC4E6C96773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313A4CE-519D-D932-AEA5-CD7F8BF415AE}"/>
              </a:ext>
            </a:extLst>
          </p:cNvPr>
          <p:cNvSpPr>
            <a:spLocks noGrp="1"/>
          </p:cNvSpPr>
          <p:nvPr>
            <p:ph type="sldNum" sz="quarter" idx="12"/>
          </p:nvPr>
        </p:nvSpPr>
        <p:spPr/>
        <p:txBody>
          <a:bodyPr/>
          <a:lstStyle/>
          <a:p>
            <a:fld id="{84DDF66F-B3DC-4AC1-8AD1-865EA05EA263}" type="slidenum">
              <a:rPr lang="en-GB" smtClean="0"/>
              <a:t>‹#›</a:t>
            </a:fld>
            <a:endParaRPr lang="en-GB"/>
          </a:p>
        </p:txBody>
      </p:sp>
    </p:spTree>
    <p:extLst>
      <p:ext uri="{BB962C8B-B14F-4D97-AF65-F5344CB8AC3E}">
        <p14:creationId xmlns:p14="http://schemas.microsoft.com/office/powerpoint/2010/main" val="3979642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4DF4C-7725-454F-7BA9-5F4074178B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7F12BC4-32F1-5AC9-1BB4-0F2CE263E9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9532AB8-1036-9061-EE31-8F060A361E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2E6450-C66F-87E9-287E-CBE476AB075C}"/>
              </a:ext>
            </a:extLst>
          </p:cNvPr>
          <p:cNvSpPr>
            <a:spLocks noGrp="1"/>
          </p:cNvSpPr>
          <p:nvPr>
            <p:ph type="dt" sz="half" idx="10"/>
          </p:nvPr>
        </p:nvSpPr>
        <p:spPr/>
        <p:txBody>
          <a:bodyPr/>
          <a:lstStyle/>
          <a:p>
            <a:fld id="{0AC16868-432E-4164-9969-85079BCDDBB9}" type="datetimeFigureOut">
              <a:rPr lang="en-GB" smtClean="0"/>
              <a:t>22/07/2023</a:t>
            </a:fld>
            <a:endParaRPr lang="en-GB"/>
          </a:p>
        </p:txBody>
      </p:sp>
      <p:sp>
        <p:nvSpPr>
          <p:cNvPr id="6" name="Footer Placeholder 5">
            <a:extLst>
              <a:ext uri="{FF2B5EF4-FFF2-40B4-BE49-F238E27FC236}">
                <a16:creationId xmlns:a16="http://schemas.microsoft.com/office/drawing/2014/main" id="{15E03C6B-F31A-A463-32B2-02E157BDC20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E79720A-DCC0-5B91-24D7-F635C1CBAEBC}"/>
              </a:ext>
            </a:extLst>
          </p:cNvPr>
          <p:cNvSpPr>
            <a:spLocks noGrp="1"/>
          </p:cNvSpPr>
          <p:nvPr>
            <p:ph type="sldNum" sz="quarter" idx="12"/>
          </p:nvPr>
        </p:nvSpPr>
        <p:spPr/>
        <p:txBody>
          <a:bodyPr/>
          <a:lstStyle/>
          <a:p>
            <a:fld id="{84DDF66F-B3DC-4AC1-8AD1-865EA05EA263}" type="slidenum">
              <a:rPr lang="en-GB" smtClean="0"/>
              <a:t>‹#›</a:t>
            </a:fld>
            <a:endParaRPr lang="en-GB"/>
          </a:p>
        </p:txBody>
      </p:sp>
    </p:spTree>
    <p:extLst>
      <p:ext uri="{BB962C8B-B14F-4D97-AF65-F5344CB8AC3E}">
        <p14:creationId xmlns:p14="http://schemas.microsoft.com/office/powerpoint/2010/main" val="3653982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3D70-DFFD-9377-8034-4DA484E485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6A56E9F-44DB-1F0E-6040-1485D97076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A1A2DC3-5CCD-9690-FF00-B4E19D316B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36192-9D69-53D7-704B-976C47D224F6}"/>
              </a:ext>
            </a:extLst>
          </p:cNvPr>
          <p:cNvSpPr>
            <a:spLocks noGrp="1"/>
          </p:cNvSpPr>
          <p:nvPr>
            <p:ph type="dt" sz="half" idx="10"/>
          </p:nvPr>
        </p:nvSpPr>
        <p:spPr/>
        <p:txBody>
          <a:bodyPr/>
          <a:lstStyle/>
          <a:p>
            <a:fld id="{0AC16868-432E-4164-9969-85079BCDDBB9}" type="datetimeFigureOut">
              <a:rPr lang="en-GB" smtClean="0"/>
              <a:t>22/07/2023</a:t>
            </a:fld>
            <a:endParaRPr lang="en-GB"/>
          </a:p>
        </p:txBody>
      </p:sp>
      <p:sp>
        <p:nvSpPr>
          <p:cNvPr id="6" name="Footer Placeholder 5">
            <a:extLst>
              <a:ext uri="{FF2B5EF4-FFF2-40B4-BE49-F238E27FC236}">
                <a16:creationId xmlns:a16="http://schemas.microsoft.com/office/drawing/2014/main" id="{17CA4538-1876-1AF0-F464-0CE4664E9CD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CBC8BB1-7A77-FBFE-EAD6-6B29BBDF742A}"/>
              </a:ext>
            </a:extLst>
          </p:cNvPr>
          <p:cNvSpPr>
            <a:spLocks noGrp="1"/>
          </p:cNvSpPr>
          <p:nvPr>
            <p:ph type="sldNum" sz="quarter" idx="12"/>
          </p:nvPr>
        </p:nvSpPr>
        <p:spPr/>
        <p:txBody>
          <a:bodyPr/>
          <a:lstStyle/>
          <a:p>
            <a:fld id="{84DDF66F-B3DC-4AC1-8AD1-865EA05EA263}" type="slidenum">
              <a:rPr lang="en-GB" smtClean="0"/>
              <a:t>‹#›</a:t>
            </a:fld>
            <a:endParaRPr lang="en-GB"/>
          </a:p>
        </p:txBody>
      </p:sp>
    </p:spTree>
    <p:extLst>
      <p:ext uri="{BB962C8B-B14F-4D97-AF65-F5344CB8AC3E}">
        <p14:creationId xmlns:p14="http://schemas.microsoft.com/office/powerpoint/2010/main" val="4512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9C190-567C-4F2D-E09F-B8CCF38ABCF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B11E6C2-B8D4-F20E-F90C-E78F7B1EB3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A3A2B8F-BD8C-8077-6D83-BFAA7D2E7092}"/>
              </a:ext>
            </a:extLst>
          </p:cNvPr>
          <p:cNvSpPr>
            <a:spLocks noGrp="1"/>
          </p:cNvSpPr>
          <p:nvPr>
            <p:ph type="dt" sz="half" idx="10"/>
          </p:nvPr>
        </p:nvSpPr>
        <p:spPr/>
        <p:txBody>
          <a:bodyPr/>
          <a:lstStyle/>
          <a:p>
            <a:fld id="{0AC16868-432E-4164-9969-85079BCDDBB9}" type="datetimeFigureOut">
              <a:rPr lang="en-GB" smtClean="0"/>
              <a:t>22/07/2023</a:t>
            </a:fld>
            <a:endParaRPr lang="en-GB"/>
          </a:p>
        </p:txBody>
      </p:sp>
      <p:sp>
        <p:nvSpPr>
          <p:cNvPr id="5" name="Footer Placeholder 4">
            <a:extLst>
              <a:ext uri="{FF2B5EF4-FFF2-40B4-BE49-F238E27FC236}">
                <a16:creationId xmlns:a16="http://schemas.microsoft.com/office/drawing/2014/main" id="{FED42EAC-72DB-341C-EE2E-1391BFFDD5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4991685-34C8-0640-8348-3269846950AE}"/>
              </a:ext>
            </a:extLst>
          </p:cNvPr>
          <p:cNvSpPr>
            <a:spLocks noGrp="1"/>
          </p:cNvSpPr>
          <p:nvPr>
            <p:ph type="sldNum" sz="quarter" idx="12"/>
          </p:nvPr>
        </p:nvSpPr>
        <p:spPr/>
        <p:txBody>
          <a:bodyPr/>
          <a:lstStyle/>
          <a:p>
            <a:fld id="{84DDF66F-B3DC-4AC1-8AD1-865EA05EA263}" type="slidenum">
              <a:rPr lang="en-GB" smtClean="0"/>
              <a:t>‹#›</a:t>
            </a:fld>
            <a:endParaRPr lang="en-GB"/>
          </a:p>
        </p:txBody>
      </p:sp>
    </p:spTree>
    <p:extLst>
      <p:ext uri="{BB962C8B-B14F-4D97-AF65-F5344CB8AC3E}">
        <p14:creationId xmlns:p14="http://schemas.microsoft.com/office/powerpoint/2010/main" val="1465055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4C886F-6D59-7C69-61F7-13C5128373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3C3F501-733E-987E-0450-7449A0ACF4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924EF38-E4DC-0F38-CBA0-B7E2A18CDA0D}"/>
              </a:ext>
            </a:extLst>
          </p:cNvPr>
          <p:cNvSpPr>
            <a:spLocks noGrp="1"/>
          </p:cNvSpPr>
          <p:nvPr>
            <p:ph type="dt" sz="half" idx="10"/>
          </p:nvPr>
        </p:nvSpPr>
        <p:spPr/>
        <p:txBody>
          <a:bodyPr/>
          <a:lstStyle/>
          <a:p>
            <a:fld id="{0AC16868-432E-4164-9969-85079BCDDBB9}" type="datetimeFigureOut">
              <a:rPr lang="en-GB" smtClean="0"/>
              <a:t>22/07/2023</a:t>
            </a:fld>
            <a:endParaRPr lang="en-GB"/>
          </a:p>
        </p:txBody>
      </p:sp>
      <p:sp>
        <p:nvSpPr>
          <p:cNvPr id="5" name="Footer Placeholder 4">
            <a:extLst>
              <a:ext uri="{FF2B5EF4-FFF2-40B4-BE49-F238E27FC236}">
                <a16:creationId xmlns:a16="http://schemas.microsoft.com/office/drawing/2014/main" id="{112938ED-EA84-6EB6-86A3-77281D6D478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C0C8DE8-CC6E-F045-253C-2CF0809AC62B}"/>
              </a:ext>
            </a:extLst>
          </p:cNvPr>
          <p:cNvSpPr>
            <a:spLocks noGrp="1"/>
          </p:cNvSpPr>
          <p:nvPr>
            <p:ph type="sldNum" sz="quarter" idx="12"/>
          </p:nvPr>
        </p:nvSpPr>
        <p:spPr/>
        <p:txBody>
          <a:bodyPr/>
          <a:lstStyle/>
          <a:p>
            <a:fld id="{84DDF66F-B3DC-4AC1-8AD1-865EA05EA263}" type="slidenum">
              <a:rPr lang="en-GB" smtClean="0"/>
              <a:t>‹#›</a:t>
            </a:fld>
            <a:endParaRPr lang="en-GB"/>
          </a:p>
        </p:txBody>
      </p:sp>
    </p:spTree>
    <p:extLst>
      <p:ext uri="{BB962C8B-B14F-4D97-AF65-F5344CB8AC3E}">
        <p14:creationId xmlns:p14="http://schemas.microsoft.com/office/powerpoint/2010/main" val="2785634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BF3EE7-AD36-6508-0327-8FC765E94C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99878C6-3EB6-4E1B-A427-2F30A6CCAF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8E72631-75CD-DA32-BC4E-C79026EF5C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16868-432E-4164-9969-85079BCDDBB9}" type="datetimeFigureOut">
              <a:rPr lang="en-GB" smtClean="0"/>
              <a:t>22/07/2023</a:t>
            </a:fld>
            <a:endParaRPr lang="en-GB"/>
          </a:p>
        </p:txBody>
      </p:sp>
      <p:sp>
        <p:nvSpPr>
          <p:cNvPr id="5" name="Footer Placeholder 4">
            <a:extLst>
              <a:ext uri="{FF2B5EF4-FFF2-40B4-BE49-F238E27FC236}">
                <a16:creationId xmlns:a16="http://schemas.microsoft.com/office/drawing/2014/main" id="{66E5986A-164F-345A-0BD4-E949171683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56041A5-BD1A-D0B7-756D-F236E929CD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DDF66F-B3DC-4AC1-8AD1-865EA05EA263}" type="slidenum">
              <a:rPr lang="en-GB" smtClean="0"/>
              <a:t>‹#›</a:t>
            </a:fld>
            <a:endParaRPr lang="en-GB"/>
          </a:p>
        </p:txBody>
      </p:sp>
    </p:spTree>
    <p:extLst>
      <p:ext uri="{BB962C8B-B14F-4D97-AF65-F5344CB8AC3E}">
        <p14:creationId xmlns:p14="http://schemas.microsoft.com/office/powerpoint/2010/main" val="1081172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44E249-F3B1-E4A6-87AF-11435CA8A6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3680"/>
            <a:ext cx="12408310" cy="6015046"/>
          </a:xfrm>
          <a:prstGeom prst="rect">
            <a:avLst/>
          </a:prstGeom>
          <a:solidFill>
            <a:schemeClr val="accent1"/>
          </a:solidFill>
        </p:spPr>
      </p:pic>
      <p:sp>
        <p:nvSpPr>
          <p:cNvPr id="6" name="Rectangle 5">
            <a:extLst>
              <a:ext uri="{FF2B5EF4-FFF2-40B4-BE49-F238E27FC236}">
                <a16:creationId xmlns:a16="http://schemas.microsoft.com/office/drawing/2014/main" id="{682C5269-9501-6C29-0654-A14FD5724038}"/>
              </a:ext>
            </a:extLst>
          </p:cNvPr>
          <p:cNvSpPr/>
          <p:nvPr/>
        </p:nvSpPr>
        <p:spPr>
          <a:xfrm>
            <a:off x="0" y="5093110"/>
            <a:ext cx="12192000" cy="1774722"/>
          </a:xfrm>
          <a:prstGeom prst="rect">
            <a:avLst/>
          </a:prstGeom>
          <a:solidFill>
            <a:schemeClr val="bg1">
              <a:lumMod val="85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1D2F9835-934D-57CE-2546-0656B9F6BAC2}"/>
              </a:ext>
            </a:extLst>
          </p:cNvPr>
          <p:cNvSpPr/>
          <p:nvPr/>
        </p:nvSpPr>
        <p:spPr>
          <a:xfrm>
            <a:off x="0" y="5432047"/>
            <a:ext cx="11984371" cy="892552"/>
          </a:xfrm>
          <a:prstGeom prst="rect">
            <a:avLst/>
          </a:prstGeom>
          <a:noFill/>
        </p:spPr>
        <p:txBody>
          <a:bodyPr wrap="none" lIns="91440" tIns="45720" rIns="91440" bIns="45720">
            <a:spAutoFit/>
          </a:bodyPr>
          <a:lstStyle/>
          <a:p>
            <a:pPr algn="ctr"/>
            <a:r>
              <a:rPr lang="en-GB" sz="3200" b="1" dirty="0">
                <a:ln w="6600">
                  <a:solidFill>
                    <a:srgbClr val="2F1F22"/>
                  </a:solidFill>
                  <a:prstDash val="solid"/>
                </a:ln>
                <a:solidFill>
                  <a:srgbClr val="3A272B"/>
                </a:solidFill>
                <a:latin typeface="Aharoni" panose="02010803020104030203" pitchFamily="2" charset="-79"/>
                <a:cs typeface="Aharoni" panose="02010803020104030203" pitchFamily="2" charset="-79"/>
              </a:rPr>
              <a:t>Fraud Analysis: </a:t>
            </a:r>
          </a:p>
          <a:p>
            <a:pPr algn="ctr"/>
            <a:r>
              <a:rPr lang="en-GB" sz="2000" b="1" dirty="0">
                <a:ln w="6600">
                  <a:solidFill>
                    <a:srgbClr val="2F1F22"/>
                  </a:solidFill>
                  <a:prstDash val="solid"/>
                </a:ln>
                <a:solidFill>
                  <a:srgbClr val="3A272B"/>
                </a:solidFill>
                <a:latin typeface="Aharoni" panose="02010803020104030203" pitchFamily="2" charset="-79"/>
                <a:cs typeface="Aharoni" panose="02010803020104030203" pitchFamily="2" charset="-79"/>
              </a:rPr>
              <a:t>Unveiling Fraudulent Behaviour and Uncovering Patterns in Bank Accounts through Data Analysis</a:t>
            </a:r>
            <a:endParaRPr lang="en-US" sz="2000" b="1" dirty="0">
              <a:ln w="6600">
                <a:solidFill>
                  <a:srgbClr val="2F1F22"/>
                </a:solidFill>
                <a:prstDash val="solid"/>
              </a:ln>
              <a:solidFill>
                <a:srgbClr val="3A272B"/>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918791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F0439F-6739-2C92-18A9-6AD37539E6D0}"/>
              </a:ext>
            </a:extLst>
          </p:cNvPr>
          <p:cNvSpPr/>
          <p:nvPr/>
        </p:nvSpPr>
        <p:spPr>
          <a:xfrm>
            <a:off x="0" y="-1"/>
            <a:ext cx="12192000" cy="891251"/>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10D64EB5-4F9F-D582-EBAD-8B1F8656CF1F}"/>
              </a:ext>
            </a:extLst>
          </p:cNvPr>
          <p:cNvSpPr/>
          <p:nvPr/>
        </p:nvSpPr>
        <p:spPr>
          <a:xfrm>
            <a:off x="3985799" y="121809"/>
            <a:ext cx="3631122" cy="769441"/>
          </a:xfrm>
          <a:prstGeom prst="rect">
            <a:avLst/>
          </a:prstGeom>
          <a:noFill/>
        </p:spPr>
        <p:txBody>
          <a:bodyPr wrap="none" lIns="91440" tIns="45720" rIns="91440" bIns="45720">
            <a:spAutoFit/>
          </a:bodyPr>
          <a:lstStyle/>
          <a:p>
            <a:pPr algn="ctr"/>
            <a:r>
              <a:rPr lang="en-US" sz="4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Member Info</a:t>
            </a:r>
          </a:p>
        </p:txBody>
      </p:sp>
      <p:sp>
        <p:nvSpPr>
          <p:cNvPr id="6" name="Rectangle 5">
            <a:extLst>
              <a:ext uri="{FF2B5EF4-FFF2-40B4-BE49-F238E27FC236}">
                <a16:creationId xmlns:a16="http://schemas.microsoft.com/office/drawing/2014/main" id="{8D36A324-9B92-EF3E-058E-CAEADCB1C17D}"/>
              </a:ext>
            </a:extLst>
          </p:cNvPr>
          <p:cNvSpPr/>
          <p:nvPr/>
        </p:nvSpPr>
        <p:spPr>
          <a:xfrm>
            <a:off x="1085981" y="2253881"/>
            <a:ext cx="3215945" cy="646331"/>
          </a:xfrm>
          <a:prstGeom prst="rect">
            <a:avLst/>
          </a:prstGeom>
          <a:noFill/>
        </p:spPr>
        <p:txBody>
          <a:bodyPr wrap="none" lIns="91440" tIns="45720" rIns="91440" bIns="45720">
            <a:spAutoFit/>
          </a:bodyPr>
          <a:lstStyle/>
          <a:p>
            <a:pPr algn="ctr"/>
            <a:r>
              <a:rPr lang="en-US" sz="360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Submitted By:</a:t>
            </a:r>
            <a:endParaRPr lang="en-US" sz="36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7" name="Rectangle 6">
            <a:extLst>
              <a:ext uri="{FF2B5EF4-FFF2-40B4-BE49-F238E27FC236}">
                <a16:creationId xmlns:a16="http://schemas.microsoft.com/office/drawing/2014/main" id="{33939EFA-60A5-46B0-C58E-4853D87D2CFA}"/>
              </a:ext>
            </a:extLst>
          </p:cNvPr>
          <p:cNvSpPr/>
          <p:nvPr/>
        </p:nvSpPr>
        <p:spPr>
          <a:xfrm>
            <a:off x="1085981" y="2908626"/>
            <a:ext cx="3926075" cy="461665"/>
          </a:xfrm>
          <a:prstGeom prst="rect">
            <a:avLst/>
          </a:prstGeom>
          <a:noFill/>
        </p:spPr>
        <p:txBody>
          <a:bodyPr wrap="none" lIns="91440" tIns="45720" rIns="91440" bIns="45720">
            <a:spAutoFit/>
          </a:bodyPr>
          <a:lstStyle/>
          <a:p>
            <a:pPr algn="ctr"/>
            <a:r>
              <a:rPr lang="en-US" sz="24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Nahida Fatme (19202103127)</a:t>
            </a:r>
          </a:p>
        </p:txBody>
      </p:sp>
      <p:sp>
        <p:nvSpPr>
          <p:cNvPr id="8" name="Rectangle 7">
            <a:extLst>
              <a:ext uri="{FF2B5EF4-FFF2-40B4-BE49-F238E27FC236}">
                <a16:creationId xmlns:a16="http://schemas.microsoft.com/office/drawing/2014/main" id="{4EB93B29-0EA8-4121-0A20-16806ADC529F}"/>
              </a:ext>
            </a:extLst>
          </p:cNvPr>
          <p:cNvSpPr/>
          <p:nvPr/>
        </p:nvSpPr>
        <p:spPr>
          <a:xfrm>
            <a:off x="1085981" y="3319331"/>
            <a:ext cx="4464685" cy="461665"/>
          </a:xfrm>
          <a:prstGeom prst="rect">
            <a:avLst/>
          </a:prstGeom>
          <a:noFill/>
        </p:spPr>
        <p:txBody>
          <a:bodyPr wrap="none" lIns="91440" tIns="45720" rIns="91440" bIns="45720">
            <a:spAutoFit/>
          </a:bodyPr>
          <a:lstStyle/>
          <a:p>
            <a:pPr algn="ctr"/>
            <a:r>
              <a:rPr lang="en-GB" sz="2400" dirty="0">
                <a:latin typeface="Aharoni" panose="02010803020104030203" pitchFamily="2" charset="-79"/>
                <a:cs typeface="Aharoni" panose="02010803020104030203" pitchFamily="2" charset="-79"/>
              </a:rPr>
              <a:t>Md. </a:t>
            </a:r>
            <a:r>
              <a:rPr lang="en-GB" sz="2400" dirty="0" err="1">
                <a:latin typeface="Aharoni" panose="02010803020104030203" pitchFamily="2" charset="-79"/>
                <a:cs typeface="Aharoni" panose="02010803020104030203" pitchFamily="2" charset="-79"/>
              </a:rPr>
              <a:t>Moynul</a:t>
            </a:r>
            <a:r>
              <a:rPr lang="en-GB" sz="2400" dirty="0">
                <a:latin typeface="Aharoni" panose="02010803020104030203" pitchFamily="2" charset="-79"/>
                <a:cs typeface="Aharoni" panose="02010803020104030203" pitchFamily="2" charset="-79"/>
              </a:rPr>
              <a:t> Islam</a:t>
            </a:r>
            <a:r>
              <a:rPr lang="en-US" sz="24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 (19202103141)</a:t>
            </a:r>
          </a:p>
        </p:txBody>
      </p:sp>
      <p:sp>
        <p:nvSpPr>
          <p:cNvPr id="9" name="Rectangle 8">
            <a:extLst>
              <a:ext uri="{FF2B5EF4-FFF2-40B4-BE49-F238E27FC236}">
                <a16:creationId xmlns:a16="http://schemas.microsoft.com/office/drawing/2014/main" id="{5FE8CFFD-D516-7411-DC21-D526CEF9E508}"/>
              </a:ext>
            </a:extLst>
          </p:cNvPr>
          <p:cNvSpPr/>
          <p:nvPr/>
        </p:nvSpPr>
        <p:spPr>
          <a:xfrm>
            <a:off x="1085981" y="3779000"/>
            <a:ext cx="4639412" cy="461665"/>
          </a:xfrm>
          <a:prstGeom prst="rect">
            <a:avLst/>
          </a:prstGeom>
          <a:noFill/>
        </p:spPr>
        <p:txBody>
          <a:bodyPr wrap="none" lIns="91440" tIns="45720" rIns="91440" bIns="45720">
            <a:spAutoFit/>
          </a:bodyPr>
          <a:lstStyle/>
          <a:p>
            <a:pPr algn="ctr"/>
            <a:r>
              <a:rPr lang="en-GB" sz="2400" dirty="0">
                <a:latin typeface="Aharoni" panose="02010803020104030203" pitchFamily="2" charset="-79"/>
                <a:cs typeface="Aharoni" panose="02010803020104030203" pitchFamily="2" charset="-79"/>
              </a:rPr>
              <a:t>Jahid Farhad </a:t>
            </a:r>
            <a:r>
              <a:rPr lang="en-GB" sz="2400" dirty="0" err="1">
                <a:latin typeface="Aharoni" panose="02010803020104030203" pitchFamily="2" charset="-79"/>
                <a:cs typeface="Aharoni" panose="02010803020104030203" pitchFamily="2" charset="-79"/>
              </a:rPr>
              <a:t>Apon</a:t>
            </a:r>
            <a:r>
              <a:rPr lang="en-US" sz="24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 (19202103147)</a:t>
            </a:r>
          </a:p>
        </p:txBody>
      </p:sp>
      <p:sp>
        <p:nvSpPr>
          <p:cNvPr id="10" name="Rectangle 9">
            <a:extLst>
              <a:ext uri="{FF2B5EF4-FFF2-40B4-BE49-F238E27FC236}">
                <a16:creationId xmlns:a16="http://schemas.microsoft.com/office/drawing/2014/main" id="{5C2CB62B-F872-F472-F6F5-8907BAD8F878}"/>
              </a:ext>
            </a:extLst>
          </p:cNvPr>
          <p:cNvSpPr/>
          <p:nvPr/>
        </p:nvSpPr>
        <p:spPr>
          <a:xfrm>
            <a:off x="1085981" y="4238669"/>
            <a:ext cx="5391219" cy="461665"/>
          </a:xfrm>
          <a:prstGeom prst="rect">
            <a:avLst/>
          </a:prstGeom>
          <a:noFill/>
        </p:spPr>
        <p:txBody>
          <a:bodyPr wrap="none" lIns="91440" tIns="45720" rIns="91440" bIns="45720">
            <a:spAutoFit/>
          </a:bodyPr>
          <a:lstStyle/>
          <a:p>
            <a:pPr algn="ctr"/>
            <a:r>
              <a:rPr lang="en-GB" sz="2400" dirty="0">
                <a:latin typeface="Aharoni" panose="02010803020104030203" pitchFamily="2" charset="-79"/>
                <a:cs typeface="Aharoni" panose="02010803020104030203" pitchFamily="2" charset="-79"/>
              </a:rPr>
              <a:t>Md. Mahmudur Rahman</a:t>
            </a:r>
            <a:r>
              <a:rPr lang="en-US" sz="24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 (</a:t>
            </a:r>
            <a:r>
              <a:rPr lang="en-GB" sz="2400" dirty="0">
                <a:latin typeface="Aharoni" panose="02010803020104030203" pitchFamily="2" charset="-79"/>
                <a:cs typeface="Aharoni" panose="02010803020104030203" pitchFamily="2" charset="-79"/>
              </a:rPr>
              <a:t>19202103379</a:t>
            </a:r>
            <a:r>
              <a:rPr lang="en-US" sz="24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a:t>
            </a:r>
          </a:p>
        </p:txBody>
      </p:sp>
      <p:sp>
        <p:nvSpPr>
          <p:cNvPr id="11" name="Rectangle 10">
            <a:extLst>
              <a:ext uri="{FF2B5EF4-FFF2-40B4-BE49-F238E27FC236}">
                <a16:creationId xmlns:a16="http://schemas.microsoft.com/office/drawing/2014/main" id="{DC540726-9ADC-801B-271E-7571A9B4E238}"/>
              </a:ext>
            </a:extLst>
          </p:cNvPr>
          <p:cNvSpPr/>
          <p:nvPr/>
        </p:nvSpPr>
        <p:spPr>
          <a:xfrm>
            <a:off x="1085981" y="4744139"/>
            <a:ext cx="4410182" cy="461665"/>
          </a:xfrm>
          <a:prstGeom prst="rect">
            <a:avLst/>
          </a:prstGeom>
          <a:noFill/>
        </p:spPr>
        <p:txBody>
          <a:bodyPr wrap="none" lIns="91440" tIns="45720" rIns="91440" bIns="45720">
            <a:spAutoFit/>
          </a:bodyPr>
          <a:lstStyle/>
          <a:p>
            <a:pPr algn="ctr"/>
            <a:r>
              <a:rPr lang="en-GB" sz="2400" dirty="0">
                <a:latin typeface="Aharoni" panose="02010803020104030203" pitchFamily="2" charset="-79"/>
                <a:cs typeface="Aharoni" panose="02010803020104030203" pitchFamily="2" charset="-79"/>
              </a:rPr>
              <a:t>Md Rakib </a:t>
            </a:r>
            <a:r>
              <a:rPr lang="en-GB" sz="2400" dirty="0" err="1">
                <a:latin typeface="Aharoni" panose="02010803020104030203" pitchFamily="2" charset="-79"/>
                <a:cs typeface="Aharoni" panose="02010803020104030203" pitchFamily="2" charset="-79"/>
              </a:rPr>
              <a:t>Hossen</a:t>
            </a:r>
            <a:r>
              <a:rPr lang="en-US" sz="24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 (</a:t>
            </a:r>
            <a:r>
              <a:rPr lang="en-GB" sz="2400" dirty="0">
                <a:latin typeface="Aharoni" panose="02010803020104030203" pitchFamily="2" charset="-79"/>
                <a:cs typeface="Aharoni" panose="02010803020104030203" pitchFamily="2" charset="-79"/>
              </a:rPr>
              <a:t>19202103289</a:t>
            </a:r>
            <a:r>
              <a:rPr lang="en-US" sz="24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a:t>
            </a:r>
          </a:p>
        </p:txBody>
      </p:sp>
      <p:sp>
        <p:nvSpPr>
          <p:cNvPr id="12" name="Rectangle 11">
            <a:extLst>
              <a:ext uri="{FF2B5EF4-FFF2-40B4-BE49-F238E27FC236}">
                <a16:creationId xmlns:a16="http://schemas.microsoft.com/office/drawing/2014/main" id="{602C53B9-7B40-92DF-ABE5-7D6A705F2B1A}"/>
              </a:ext>
            </a:extLst>
          </p:cNvPr>
          <p:cNvSpPr/>
          <p:nvPr/>
        </p:nvSpPr>
        <p:spPr>
          <a:xfrm>
            <a:off x="7892812" y="1369743"/>
            <a:ext cx="3153427" cy="646331"/>
          </a:xfrm>
          <a:prstGeom prst="rect">
            <a:avLst/>
          </a:prstGeom>
          <a:noFill/>
        </p:spPr>
        <p:txBody>
          <a:bodyPr wrap="none" lIns="91440" tIns="45720" rIns="91440" bIns="45720">
            <a:spAutoFit/>
          </a:bodyPr>
          <a:lstStyle/>
          <a:p>
            <a:pPr algn="ctr"/>
            <a:r>
              <a:rPr lang="en-US" sz="360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Submitted To:</a:t>
            </a:r>
            <a:endParaRPr lang="en-US" sz="36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3" name="Rectangle 12">
            <a:extLst>
              <a:ext uri="{FF2B5EF4-FFF2-40B4-BE49-F238E27FC236}">
                <a16:creationId xmlns:a16="http://schemas.microsoft.com/office/drawing/2014/main" id="{8D85CF9C-886B-0408-4C35-1F00E1EB9900}"/>
              </a:ext>
            </a:extLst>
          </p:cNvPr>
          <p:cNvSpPr/>
          <p:nvPr/>
        </p:nvSpPr>
        <p:spPr>
          <a:xfrm>
            <a:off x="7377447" y="2007660"/>
            <a:ext cx="4184158" cy="892552"/>
          </a:xfrm>
          <a:prstGeom prst="rect">
            <a:avLst/>
          </a:prstGeom>
          <a:noFill/>
        </p:spPr>
        <p:txBody>
          <a:bodyPr wrap="none" lIns="91440" tIns="45720" rIns="91440" bIns="45720">
            <a:spAutoFit/>
          </a:bodyPr>
          <a:lstStyle/>
          <a:p>
            <a:pPr algn="ctr"/>
            <a:r>
              <a:rPr lang="en-GB" sz="2400" dirty="0">
                <a:latin typeface="Aharoni" panose="02010803020104030203" pitchFamily="2" charset="-79"/>
                <a:cs typeface="Aharoni" panose="02010803020104030203" pitchFamily="2" charset="-79"/>
              </a:rPr>
              <a:t>Khan Md. Hasib</a:t>
            </a:r>
          </a:p>
          <a:p>
            <a:pPr algn="ctr"/>
            <a:r>
              <a:rPr lang="en-GB" sz="1600" dirty="0">
                <a:latin typeface="Aharoni" panose="02010803020104030203" pitchFamily="2" charset="-79"/>
                <a:cs typeface="Aharoni" panose="02010803020104030203" pitchFamily="2" charset="-79"/>
              </a:rPr>
              <a:t>Assistant Professor </a:t>
            </a:r>
          </a:p>
          <a:p>
            <a:pPr algn="ctr"/>
            <a:r>
              <a:rPr lang="en-GB" sz="1200" dirty="0">
                <a:latin typeface="Aharoni" panose="02010803020104030203" pitchFamily="2" charset="-79"/>
                <a:cs typeface="Aharoni" panose="02010803020104030203" pitchFamily="2" charset="-79"/>
              </a:rPr>
              <a:t>Department of Computer Science and Engineering (CSE)</a:t>
            </a:r>
            <a:endParaRPr lang="en-US" sz="12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6" name="Rectangle 15">
            <a:extLst>
              <a:ext uri="{FF2B5EF4-FFF2-40B4-BE49-F238E27FC236}">
                <a16:creationId xmlns:a16="http://schemas.microsoft.com/office/drawing/2014/main" id="{D3DF7A9E-A70C-155F-A827-E653260B3779}"/>
              </a:ext>
            </a:extLst>
          </p:cNvPr>
          <p:cNvSpPr/>
          <p:nvPr/>
        </p:nvSpPr>
        <p:spPr>
          <a:xfrm>
            <a:off x="8238869" y="4211652"/>
            <a:ext cx="2664512" cy="646331"/>
          </a:xfrm>
          <a:prstGeom prst="rect">
            <a:avLst/>
          </a:prstGeom>
          <a:noFill/>
        </p:spPr>
        <p:txBody>
          <a:bodyPr wrap="none" lIns="91440" tIns="45720" rIns="91440" bIns="45720">
            <a:spAutoFit/>
          </a:bodyPr>
          <a:lstStyle/>
          <a:p>
            <a:pPr algn="ctr"/>
            <a:r>
              <a:rPr lang="en-US" sz="360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Supervisor:</a:t>
            </a:r>
            <a:endParaRPr lang="en-US" sz="36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7" name="Rectangle 16">
            <a:extLst>
              <a:ext uri="{FF2B5EF4-FFF2-40B4-BE49-F238E27FC236}">
                <a16:creationId xmlns:a16="http://schemas.microsoft.com/office/drawing/2014/main" id="{AB7D914D-BFAB-97A9-BA0C-62E0C38A0B2D}"/>
              </a:ext>
            </a:extLst>
          </p:cNvPr>
          <p:cNvSpPr/>
          <p:nvPr/>
        </p:nvSpPr>
        <p:spPr>
          <a:xfrm>
            <a:off x="7479046" y="4857983"/>
            <a:ext cx="4184159" cy="923330"/>
          </a:xfrm>
          <a:prstGeom prst="rect">
            <a:avLst/>
          </a:prstGeom>
          <a:noFill/>
        </p:spPr>
        <p:txBody>
          <a:bodyPr wrap="none" lIns="91440" tIns="45720" rIns="91440" bIns="45720">
            <a:spAutoFit/>
          </a:bodyPr>
          <a:lstStyle/>
          <a:p>
            <a:pPr algn="ctr"/>
            <a:r>
              <a:rPr lang="en-GB" sz="2400" dirty="0">
                <a:latin typeface="Aharoni" panose="02010803020104030203" pitchFamily="2" charset="-79"/>
                <a:cs typeface="Aharoni" panose="02010803020104030203" pitchFamily="2" charset="-79"/>
              </a:rPr>
              <a:t>Md. </a:t>
            </a:r>
            <a:r>
              <a:rPr lang="en-GB" sz="2400" dirty="0" err="1">
                <a:latin typeface="Aharoni" panose="02010803020104030203" pitchFamily="2" charset="-79"/>
                <a:cs typeface="Aharoni" panose="02010803020104030203" pitchFamily="2" charset="-79"/>
              </a:rPr>
              <a:t>Masudul</a:t>
            </a:r>
            <a:r>
              <a:rPr lang="en-GB" sz="2400" dirty="0">
                <a:latin typeface="Aharoni" panose="02010803020104030203" pitchFamily="2" charset="-79"/>
                <a:cs typeface="Aharoni" panose="02010803020104030203" pitchFamily="2" charset="-79"/>
              </a:rPr>
              <a:t> Islam </a:t>
            </a:r>
          </a:p>
          <a:p>
            <a:pPr algn="ctr"/>
            <a:r>
              <a:rPr lang="en-GB" dirty="0">
                <a:latin typeface="Aharoni" panose="02010803020104030203" pitchFamily="2" charset="-79"/>
                <a:cs typeface="Aharoni" panose="02010803020104030203" pitchFamily="2" charset="-79"/>
              </a:rPr>
              <a:t>Assistant Professor </a:t>
            </a:r>
          </a:p>
          <a:p>
            <a:pPr algn="ctr"/>
            <a:r>
              <a:rPr lang="en-GB" sz="1200" dirty="0">
                <a:latin typeface="Aharoni" panose="02010803020104030203" pitchFamily="2" charset="-79"/>
                <a:cs typeface="Aharoni" panose="02010803020104030203" pitchFamily="2" charset="-79"/>
              </a:rPr>
              <a:t>Department of Computer Science and Engineering (CSE)</a:t>
            </a:r>
            <a:endParaRPr lang="en-US" sz="12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702316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F0439F-6739-2C92-18A9-6AD37539E6D0}"/>
              </a:ext>
            </a:extLst>
          </p:cNvPr>
          <p:cNvSpPr/>
          <p:nvPr/>
        </p:nvSpPr>
        <p:spPr>
          <a:xfrm>
            <a:off x="0" y="-1"/>
            <a:ext cx="12192000" cy="891251"/>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10D64EB5-4F9F-D582-EBAD-8B1F8656CF1F}"/>
              </a:ext>
            </a:extLst>
          </p:cNvPr>
          <p:cNvSpPr/>
          <p:nvPr/>
        </p:nvSpPr>
        <p:spPr>
          <a:xfrm>
            <a:off x="3540964" y="121809"/>
            <a:ext cx="4520789" cy="769441"/>
          </a:xfrm>
          <a:prstGeom prst="rect">
            <a:avLst/>
          </a:prstGeom>
          <a:noFill/>
        </p:spPr>
        <p:txBody>
          <a:bodyPr wrap="none" lIns="91440" tIns="45720" rIns="91440" bIns="45720">
            <a:spAutoFit/>
          </a:bodyPr>
          <a:lstStyle/>
          <a:p>
            <a:pPr algn="ctr"/>
            <a:r>
              <a:rPr lang="en-US" sz="440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Table of Content</a:t>
            </a:r>
            <a:endParaRPr lang="en-US" sz="4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2" name="Rectangle 11">
            <a:extLst>
              <a:ext uri="{FF2B5EF4-FFF2-40B4-BE49-F238E27FC236}">
                <a16:creationId xmlns:a16="http://schemas.microsoft.com/office/drawing/2014/main" id="{602C53B9-7B40-92DF-ABE5-7D6A705F2B1A}"/>
              </a:ext>
            </a:extLst>
          </p:cNvPr>
          <p:cNvSpPr/>
          <p:nvPr/>
        </p:nvSpPr>
        <p:spPr>
          <a:xfrm>
            <a:off x="3964860" y="1788049"/>
            <a:ext cx="3243197" cy="646331"/>
          </a:xfrm>
          <a:prstGeom prst="rect">
            <a:avLst/>
          </a:prstGeom>
          <a:noFill/>
        </p:spPr>
        <p:txBody>
          <a:bodyPr wrap="none" lIns="91440" tIns="45720" rIns="91440" bIns="45720">
            <a:spAutoFit/>
          </a:bodyPr>
          <a:lstStyle/>
          <a:p>
            <a:pPr algn="ctr"/>
            <a:r>
              <a:rPr lang="en-US" sz="360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1. Introduction</a:t>
            </a:r>
            <a:endParaRPr lang="en-US" sz="36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2" name="Rectangle 1">
            <a:extLst>
              <a:ext uri="{FF2B5EF4-FFF2-40B4-BE49-F238E27FC236}">
                <a16:creationId xmlns:a16="http://schemas.microsoft.com/office/drawing/2014/main" id="{F3F6D7D9-9E9E-BED7-1951-134A93B48D57}"/>
              </a:ext>
            </a:extLst>
          </p:cNvPr>
          <p:cNvSpPr/>
          <p:nvPr/>
        </p:nvSpPr>
        <p:spPr>
          <a:xfrm>
            <a:off x="3964860" y="2464868"/>
            <a:ext cx="2980303" cy="646331"/>
          </a:xfrm>
          <a:prstGeom prst="rect">
            <a:avLst/>
          </a:prstGeom>
          <a:noFill/>
        </p:spPr>
        <p:txBody>
          <a:bodyPr wrap="none" lIns="91440" tIns="45720" rIns="91440" bIns="45720">
            <a:spAutoFit/>
          </a:bodyPr>
          <a:lstStyle/>
          <a:p>
            <a:pPr algn="ctr"/>
            <a:r>
              <a:rPr lang="en-US" sz="360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2. Motivation</a:t>
            </a:r>
            <a:endParaRPr lang="en-US" sz="36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3" name="Rectangle 2">
            <a:extLst>
              <a:ext uri="{FF2B5EF4-FFF2-40B4-BE49-F238E27FC236}">
                <a16:creationId xmlns:a16="http://schemas.microsoft.com/office/drawing/2014/main" id="{F486CA54-472B-8B3C-B9C7-9164FC7A52FA}"/>
              </a:ext>
            </a:extLst>
          </p:cNvPr>
          <p:cNvSpPr/>
          <p:nvPr/>
        </p:nvSpPr>
        <p:spPr>
          <a:xfrm>
            <a:off x="3964860" y="3141687"/>
            <a:ext cx="2670924" cy="646331"/>
          </a:xfrm>
          <a:prstGeom prst="rect">
            <a:avLst/>
          </a:prstGeom>
          <a:noFill/>
        </p:spPr>
        <p:txBody>
          <a:bodyPr wrap="none" lIns="91440" tIns="45720" rIns="91440" bIns="45720">
            <a:spAutoFit/>
          </a:bodyPr>
          <a:lstStyle/>
          <a:p>
            <a:pPr algn="ctr"/>
            <a:r>
              <a:rPr lang="en-US" sz="360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3. Objective</a:t>
            </a:r>
            <a:endParaRPr lang="en-US" sz="36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4" name="Rectangle 13">
            <a:extLst>
              <a:ext uri="{FF2B5EF4-FFF2-40B4-BE49-F238E27FC236}">
                <a16:creationId xmlns:a16="http://schemas.microsoft.com/office/drawing/2014/main" id="{DB3C39A8-7834-27FA-7CE8-08FE4ED9EA9A}"/>
              </a:ext>
            </a:extLst>
          </p:cNvPr>
          <p:cNvSpPr/>
          <p:nvPr/>
        </p:nvSpPr>
        <p:spPr>
          <a:xfrm>
            <a:off x="3964860" y="3818506"/>
            <a:ext cx="4477509" cy="646331"/>
          </a:xfrm>
          <a:prstGeom prst="rect">
            <a:avLst/>
          </a:prstGeom>
          <a:noFill/>
        </p:spPr>
        <p:txBody>
          <a:bodyPr wrap="none" lIns="91440" tIns="45720" rIns="91440" bIns="45720">
            <a:spAutoFit/>
          </a:bodyPr>
          <a:lstStyle/>
          <a:p>
            <a:pPr algn="ctr"/>
            <a:r>
              <a:rPr lang="en-US" sz="360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4. Literature Review</a:t>
            </a:r>
            <a:endParaRPr lang="en-US" sz="36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5" name="Rectangle 14">
            <a:extLst>
              <a:ext uri="{FF2B5EF4-FFF2-40B4-BE49-F238E27FC236}">
                <a16:creationId xmlns:a16="http://schemas.microsoft.com/office/drawing/2014/main" id="{D1F712BF-26E6-210A-D0BD-C01223656002}"/>
              </a:ext>
            </a:extLst>
          </p:cNvPr>
          <p:cNvSpPr/>
          <p:nvPr/>
        </p:nvSpPr>
        <p:spPr>
          <a:xfrm>
            <a:off x="3964860" y="4495325"/>
            <a:ext cx="4586513" cy="646331"/>
          </a:xfrm>
          <a:prstGeom prst="rect">
            <a:avLst/>
          </a:prstGeom>
          <a:noFill/>
        </p:spPr>
        <p:txBody>
          <a:bodyPr wrap="none" lIns="91440" tIns="45720" rIns="91440" bIns="45720">
            <a:spAutoFit/>
          </a:bodyPr>
          <a:lstStyle/>
          <a:p>
            <a:pPr algn="ctr"/>
            <a:r>
              <a:rPr lang="en-US" sz="360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5. Critical Challenges</a:t>
            </a:r>
            <a:endParaRPr lang="en-US" sz="36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8" name="Rectangle 17">
            <a:extLst>
              <a:ext uri="{FF2B5EF4-FFF2-40B4-BE49-F238E27FC236}">
                <a16:creationId xmlns:a16="http://schemas.microsoft.com/office/drawing/2014/main" id="{500EEF4A-C8A0-40E1-5567-21990D2EACE6}"/>
              </a:ext>
            </a:extLst>
          </p:cNvPr>
          <p:cNvSpPr/>
          <p:nvPr/>
        </p:nvSpPr>
        <p:spPr>
          <a:xfrm>
            <a:off x="3964860" y="5172146"/>
            <a:ext cx="3552576" cy="646331"/>
          </a:xfrm>
          <a:prstGeom prst="rect">
            <a:avLst/>
          </a:prstGeom>
          <a:noFill/>
        </p:spPr>
        <p:txBody>
          <a:bodyPr wrap="none" lIns="91440" tIns="45720" rIns="91440" bIns="45720">
            <a:spAutoFit/>
          </a:bodyPr>
          <a:lstStyle/>
          <a:p>
            <a:pPr algn="ctr"/>
            <a:r>
              <a:rPr lang="en-US" sz="360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6. Methodology</a:t>
            </a:r>
            <a:endParaRPr lang="en-US" sz="3600" b="0"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85295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FF18B7-52E0-337C-0E52-95678D965479}"/>
              </a:ext>
            </a:extLst>
          </p:cNvPr>
          <p:cNvSpPr/>
          <p:nvPr/>
        </p:nvSpPr>
        <p:spPr>
          <a:xfrm>
            <a:off x="0" y="-1"/>
            <a:ext cx="12192000" cy="891251"/>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898F8506-C956-09CF-582B-3AF2F8719A77}"/>
              </a:ext>
            </a:extLst>
          </p:cNvPr>
          <p:cNvSpPr/>
          <p:nvPr/>
        </p:nvSpPr>
        <p:spPr>
          <a:xfrm>
            <a:off x="0" y="6624320"/>
            <a:ext cx="12192000" cy="248920"/>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3BF8A241-0DCE-3D51-1F15-53E18E4A02A8}"/>
              </a:ext>
            </a:extLst>
          </p:cNvPr>
          <p:cNvSpPr/>
          <p:nvPr/>
        </p:nvSpPr>
        <p:spPr>
          <a:xfrm>
            <a:off x="-104172" y="-1"/>
            <a:ext cx="1145894" cy="891251"/>
          </a:xfrm>
          <a:prstGeom prst="roundRect">
            <a:avLst/>
          </a:prstGeom>
          <a:solidFill>
            <a:srgbClr val="EE4B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3D07A22-C7CE-ADC4-CD58-3E7BC2935F00}"/>
              </a:ext>
            </a:extLst>
          </p:cNvPr>
          <p:cNvSpPr/>
          <p:nvPr/>
        </p:nvSpPr>
        <p:spPr>
          <a:xfrm>
            <a:off x="4244370" y="0"/>
            <a:ext cx="3703258" cy="830997"/>
          </a:xfrm>
          <a:prstGeom prst="rect">
            <a:avLst/>
          </a:prstGeom>
          <a:noFill/>
        </p:spPr>
        <p:txBody>
          <a:bodyPr wrap="none" lIns="91440" tIns="45720" rIns="91440" bIns="45720">
            <a:spAutoFit/>
          </a:bodyPr>
          <a:lstStyle/>
          <a:p>
            <a:pPr algn="ctr"/>
            <a:r>
              <a:rPr lang="en-US" sz="4800" b="1" cap="none" spc="0"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Introduction</a:t>
            </a:r>
            <a:endParaRPr lang="en-US" sz="5400" b="1" cap="none" spc="0"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2" name="Rectangle 11">
            <a:extLst>
              <a:ext uri="{FF2B5EF4-FFF2-40B4-BE49-F238E27FC236}">
                <a16:creationId xmlns:a16="http://schemas.microsoft.com/office/drawing/2014/main" id="{F4D31A2A-AFAE-A898-19DB-F312EEFA24DF}"/>
              </a:ext>
            </a:extLst>
          </p:cNvPr>
          <p:cNvSpPr/>
          <p:nvPr/>
        </p:nvSpPr>
        <p:spPr>
          <a:xfrm>
            <a:off x="89504" y="-32080"/>
            <a:ext cx="758541" cy="923330"/>
          </a:xfrm>
          <a:prstGeom prst="rect">
            <a:avLst/>
          </a:prstGeom>
          <a:noFill/>
        </p:spPr>
        <p:txBody>
          <a:bodyPr wrap="none" lIns="91440" tIns="45720" rIns="91440" bIns="45720">
            <a:spAutoFit/>
          </a:bodyPr>
          <a:lstStyle/>
          <a:p>
            <a:pPr algn="ctr"/>
            <a:r>
              <a:rPr lang="en-US" sz="5400" b="1"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01</a:t>
            </a:r>
          </a:p>
        </p:txBody>
      </p:sp>
      <p:grpSp>
        <p:nvGrpSpPr>
          <p:cNvPr id="36" name="Group 35">
            <a:extLst>
              <a:ext uri="{FF2B5EF4-FFF2-40B4-BE49-F238E27FC236}">
                <a16:creationId xmlns:a16="http://schemas.microsoft.com/office/drawing/2014/main" id="{E6FC587B-6330-7147-FA59-710AD4CA5230}"/>
              </a:ext>
            </a:extLst>
          </p:cNvPr>
          <p:cNvGrpSpPr/>
          <p:nvPr/>
        </p:nvGrpSpPr>
        <p:grpSpPr>
          <a:xfrm>
            <a:off x="222689" y="1411458"/>
            <a:ext cx="2734310" cy="4786531"/>
            <a:chOff x="222689" y="1300479"/>
            <a:chExt cx="2734310" cy="4786531"/>
          </a:xfrm>
        </p:grpSpPr>
        <p:sp>
          <p:nvSpPr>
            <p:cNvPr id="14" name="TextBox 13">
              <a:extLst>
                <a:ext uri="{FF2B5EF4-FFF2-40B4-BE49-F238E27FC236}">
                  <a16:creationId xmlns:a16="http://schemas.microsoft.com/office/drawing/2014/main" id="{E60A5835-58C6-4695-E29F-618230A13201}"/>
                </a:ext>
              </a:extLst>
            </p:cNvPr>
            <p:cNvSpPr txBox="1"/>
            <p:nvPr/>
          </p:nvSpPr>
          <p:spPr>
            <a:xfrm>
              <a:off x="325292" y="3179093"/>
              <a:ext cx="2482995" cy="2462213"/>
            </a:xfrm>
            <a:prstGeom prst="rect">
              <a:avLst/>
            </a:prstGeom>
            <a:noFill/>
          </p:spPr>
          <p:txBody>
            <a:bodyPr wrap="square">
              <a:spAutoFit/>
            </a:bodyPr>
            <a:lstStyle/>
            <a:p>
              <a:pPr algn="ctr"/>
              <a:r>
                <a:rPr lang="en-GB" sz="1400" b="0" i="0" dirty="0">
                  <a:solidFill>
                    <a:srgbClr val="2F1F22"/>
                  </a:solidFill>
                  <a:effectLst/>
                  <a:latin typeface="Aharoni" panose="02010803020104030203" pitchFamily="2" charset="-79"/>
                  <a:cs typeface="Aharoni" panose="02010803020104030203" pitchFamily="2" charset="-79"/>
                </a:rPr>
                <a:t>In today's technologically driven world, businesses and financial institutions face an ever-growing challenge fraud. Fraudulent activities can cause substantial financial losses, damage reputations, and undermine trust in critical systems.</a:t>
              </a:r>
              <a:endParaRPr lang="en-GB" sz="1400" dirty="0">
                <a:solidFill>
                  <a:srgbClr val="2F1F22"/>
                </a:solidFill>
                <a:latin typeface="Aharoni" panose="02010803020104030203" pitchFamily="2" charset="-79"/>
                <a:cs typeface="Aharoni" panose="02010803020104030203" pitchFamily="2" charset="-79"/>
              </a:endParaRPr>
            </a:p>
          </p:txBody>
        </p:sp>
        <p:pic>
          <p:nvPicPr>
            <p:cNvPr id="22" name="Picture 21">
              <a:extLst>
                <a:ext uri="{FF2B5EF4-FFF2-40B4-BE49-F238E27FC236}">
                  <a16:creationId xmlns:a16="http://schemas.microsoft.com/office/drawing/2014/main" id="{E4B678A0-B2FC-0623-6097-2CD22A0E53CB}"/>
                </a:ext>
              </a:extLst>
            </p:cNvPr>
            <p:cNvPicPr>
              <a:picLocks noChangeAspect="1"/>
            </p:cNvPicPr>
            <p:nvPr/>
          </p:nvPicPr>
          <p:blipFill>
            <a:blip r:embed="rId2"/>
            <a:stretch>
              <a:fillRect/>
            </a:stretch>
          </p:blipFill>
          <p:spPr>
            <a:xfrm>
              <a:off x="1006601" y="1624557"/>
              <a:ext cx="1092546" cy="1092546"/>
            </a:xfrm>
            <a:prstGeom prst="rect">
              <a:avLst/>
            </a:prstGeom>
          </p:spPr>
        </p:pic>
        <p:sp>
          <p:nvSpPr>
            <p:cNvPr id="29" name="Rectangle: Rounded Corners 28">
              <a:extLst>
                <a:ext uri="{FF2B5EF4-FFF2-40B4-BE49-F238E27FC236}">
                  <a16:creationId xmlns:a16="http://schemas.microsoft.com/office/drawing/2014/main" id="{48C92EDF-0736-D0F6-4319-6FC8B137F2DA}"/>
                </a:ext>
              </a:extLst>
            </p:cNvPr>
            <p:cNvSpPr/>
            <p:nvPr/>
          </p:nvSpPr>
          <p:spPr>
            <a:xfrm>
              <a:off x="222689" y="1300479"/>
              <a:ext cx="2734310" cy="4786531"/>
            </a:xfrm>
            <a:prstGeom prst="roundRect">
              <a:avLst>
                <a:gd name="adj" fmla="val 6451"/>
              </a:avLst>
            </a:prstGeom>
            <a:noFill/>
            <a:ln w="19050">
              <a:solidFill>
                <a:srgbClr val="2F1F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7" name="Group 36">
            <a:extLst>
              <a:ext uri="{FF2B5EF4-FFF2-40B4-BE49-F238E27FC236}">
                <a16:creationId xmlns:a16="http://schemas.microsoft.com/office/drawing/2014/main" id="{9F448D66-A7AF-F1AE-D85B-DAC6839D177D}"/>
              </a:ext>
            </a:extLst>
          </p:cNvPr>
          <p:cNvGrpSpPr/>
          <p:nvPr/>
        </p:nvGrpSpPr>
        <p:grpSpPr>
          <a:xfrm>
            <a:off x="3226793" y="1380165"/>
            <a:ext cx="2734310" cy="4786531"/>
            <a:chOff x="3369748" y="1250254"/>
            <a:chExt cx="2734310" cy="4786531"/>
          </a:xfrm>
        </p:grpSpPr>
        <p:sp>
          <p:nvSpPr>
            <p:cNvPr id="16" name="TextBox 15">
              <a:extLst>
                <a:ext uri="{FF2B5EF4-FFF2-40B4-BE49-F238E27FC236}">
                  <a16:creationId xmlns:a16="http://schemas.microsoft.com/office/drawing/2014/main" id="{644E74BA-FE39-8D56-035A-9DE7FA563DA2}"/>
                </a:ext>
              </a:extLst>
            </p:cNvPr>
            <p:cNvSpPr txBox="1"/>
            <p:nvPr/>
          </p:nvSpPr>
          <p:spPr>
            <a:xfrm>
              <a:off x="3562680" y="3210061"/>
              <a:ext cx="2348446" cy="1600438"/>
            </a:xfrm>
            <a:prstGeom prst="rect">
              <a:avLst/>
            </a:prstGeom>
            <a:noFill/>
          </p:spPr>
          <p:txBody>
            <a:bodyPr wrap="square">
              <a:spAutoFit/>
            </a:bodyPr>
            <a:lstStyle/>
            <a:p>
              <a:pPr algn="ctr"/>
              <a:r>
                <a:rPr lang="en-GB" sz="1400" b="0" i="0" dirty="0">
                  <a:solidFill>
                    <a:srgbClr val="2F1F22"/>
                  </a:solidFill>
                  <a:effectLst/>
                  <a:latin typeface="Aharoni" panose="02010803020104030203" pitchFamily="2" charset="-79"/>
                  <a:cs typeface="Aharoni" panose="02010803020104030203" pitchFamily="2" charset="-79"/>
                </a:rPr>
                <a:t>The Fraud Analysis and Detection is an advanced and comprehensive system designed to identify, </a:t>
              </a:r>
              <a:r>
                <a:rPr lang="en-GB" sz="1400" b="0" i="0" dirty="0" err="1">
                  <a:solidFill>
                    <a:srgbClr val="2F1F22"/>
                  </a:solidFill>
                  <a:effectLst/>
                  <a:latin typeface="Aharoni" panose="02010803020104030203" pitchFamily="2" charset="-79"/>
                  <a:cs typeface="Aharoni" panose="02010803020104030203" pitchFamily="2" charset="-79"/>
                </a:rPr>
                <a:t>analyze</a:t>
              </a:r>
              <a:r>
                <a:rPr lang="en-GB" sz="1400" b="0" i="0" dirty="0">
                  <a:solidFill>
                    <a:srgbClr val="2F1F22"/>
                  </a:solidFill>
                  <a:effectLst/>
                  <a:latin typeface="Aharoni" panose="02010803020104030203" pitchFamily="2" charset="-79"/>
                  <a:cs typeface="Aharoni" panose="02010803020104030203" pitchFamily="2" charset="-79"/>
                </a:rPr>
                <a:t>, and find fraudulent </a:t>
              </a:r>
              <a:r>
                <a:rPr lang="en-GB" sz="1400" b="0" i="0" dirty="0" err="1">
                  <a:solidFill>
                    <a:srgbClr val="2F1F22"/>
                  </a:solidFill>
                  <a:effectLst/>
                  <a:latin typeface="Aharoni" panose="02010803020104030203" pitchFamily="2" charset="-79"/>
                  <a:cs typeface="Aharoni" panose="02010803020104030203" pitchFamily="2" charset="-79"/>
                </a:rPr>
                <a:t>behaviors</a:t>
              </a:r>
              <a:r>
                <a:rPr lang="en-GB" sz="1400" b="0" i="0" dirty="0">
                  <a:solidFill>
                    <a:srgbClr val="2F1F22"/>
                  </a:solidFill>
                  <a:effectLst/>
                  <a:latin typeface="Aharoni" panose="02010803020104030203" pitchFamily="2" charset="-79"/>
                  <a:cs typeface="Aharoni" panose="02010803020104030203" pitchFamily="2" charset="-79"/>
                </a:rPr>
                <a:t> and transactions.</a:t>
              </a:r>
              <a:endParaRPr lang="en-GB" sz="1400" dirty="0">
                <a:solidFill>
                  <a:srgbClr val="2F1F22"/>
                </a:solidFill>
                <a:latin typeface="Aharoni" panose="02010803020104030203" pitchFamily="2" charset="-79"/>
                <a:cs typeface="Aharoni" panose="02010803020104030203" pitchFamily="2" charset="-79"/>
              </a:endParaRPr>
            </a:p>
          </p:txBody>
        </p:sp>
        <p:pic>
          <p:nvPicPr>
            <p:cNvPr id="24" name="Picture 23">
              <a:extLst>
                <a:ext uri="{FF2B5EF4-FFF2-40B4-BE49-F238E27FC236}">
                  <a16:creationId xmlns:a16="http://schemas.microsoft.com/office/drawing/2014/main" id="{2CA8A7B2-FB0C-CFBC-0396-8879900E79EC}"/>
                </a:ext>
              </a:extLst>
            </p:cNvPr>
            <p:cNvPicPr>
              <a:picLocks noChangeAspect="1"/>
            </p:cNvPicPr>
            <p:nvPr/>
          </p:nvPicPr>
          <p:blipFill>
            <a:blip r:embed="rId3"/>
            <a:stretch>
              <a:fillRect/>
            </a:stretch>
          </p:blipFill>
          <p:spPr>
            <a:xfrm>
              <a:off x="4172192" y="1618955"/>
              <a:ext cx="1132995" cy="1132995"/>
            </a:xfrm>
            <a:prstGeom prst="rect">
              <a:avLst/>
            </a:prstGeom>
          </p:spPr>
        </p:pic>
        <p:sp>
          <p:nvSpPr>
            <p:cNvPr id="33" name="Rectangle: Rounded Corners 32">
              <a:extLst>
                <a:ext uri="{FF2B5EF4-FFF2-40B4-BE49-F238E27FC236}">
                  <a16:creationId xmlns:a16="http://schemas.microsoft.com/office/drawing/2014/main" id="{6E981892-95C7-9B95-2EDA-E720A3B21D3A}"/>
                </a:ext>
              </a:extLst>
            </p:cNvPr>
            <p:cNvSpPr/>
            <p:nvPr/>
          </p:nvSpPr>
          <p:spPr>
            <a:xfrm>
              <a:off x="3369748" y="1250254"/>
              <a:ext cx="2734310" cy="4786531"/>
            </a:xfrm>
            <a:prstGeom prst="roundRect">
              <a:avLst>
                <a:gd name="adj" fmla="val 6451"/>
              </a:avLst>
            </a:prstGeom>
            <a:noFill/>
            <a:ln w="19050">
              <a:solidFill>
                <a:srgbClr val="2F1F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8" name="Group 37">
            <a:extLst>
              <a:ext uri="{FF2B5EF4-FFF2-40B4-BE49-F238E27FC236}">
                <a16:creationId xmlns:a16="http://schemas.microsoft.com/office/drawing/2014/main" id="{5297EFED-11F5-8742-7092-9F0AFACFE270}"/>
              </a:ext>
            </a:extLst>
          </p:cNvPr>
          <p:cNvGrpSpPr/>
          <p:nvPr/>
        </p:nvGrpSpPr>
        <p:grpSpPr>
          <a:xfrm>
            <a:off x="6230897" y="1348873"/>
            <a:ext cx="2734310" cy="4786531"/>
            <a:chOff x="6272919" y="1206602"/>
            <a:chExt cx="2734310" cy="4786531"/>
          </a:xfrm>
        </p:grpSpPr>
        <p:sp>
          <p:nvSpPr>
            <p:cNvPr id="18" name="TextBox 17">
              <a:extLst>
                <a:ext uri="{FF2B5EF4-FFF2-40B4-BE49-F238E27FC236}">
                  <a16:creationId xmlns:a16="http://schemas.microsoft.com/office/drawing/2014/main" id="{D2349ECD-8DD0-3229-70EA-1F94CCC5BC15}"/>
                </a:ext>
              </a:extLst>
            </p:cNvPr>
            <p:cNvSpPr txBox="1"/>
            <p:nvPr/>
          </p:nvSpPr>
          <p:spPr>
            <a:xfrm>
              <a:off x="6452624" y="3210061"/>
              <a:ext cx="2374900" cy="973405"/>
            </a:xfrm>
            <a:prstGeom prst="rect">
              <a:avLst/>
            </a:prstGeom>
            <a:noFill/>
          </p:spPr>
          <p:txBody>
            <a:bodyPr wrap="square">
              <a:spAutoFit/>
            </a:bodyPr>
            <a:lstStyle/>
            <a:p>
              <a:pPr algn="ctr"/>
              <a:r>
                <a:rPr lang="en-GB" sz="1400" b="0" i="0" dirty="0">
                  <a:solidFill>
                    <a:srgbClr val="2F1F22"/>
                  </a:solidFill>
                  <a:effectLst/>
                  <a:latin typeface="Aharoni" panose="02010803020104030203" pitchFamily="2" charset="-79"/>
                  <a:cs typeface="Aharoni" panose="02010803020104030203" pitchFamily="2" charset="-79"/>
                </a:rPr>
                <a:t>By leveraging  cutting-edge technologies, data analysis, and machine learning algorithms</a:t>
              </a:r>
              <a:endParaRPr lang="en-GB" sz="1400" dirty="0"/>
            </a:p>
          </p:txBody>
        </p:sp>
        <p:pic>
          <p:nvPicPr>
            <p:cNvPr id="26" name="Picture 25">
              <a:extLst>
                <a:ext uri="{FF2B5EF4-FFF2-40B4-BE49-F238E27FC236}">
                  <a16:creationId xmlns:a16="http://schemas.microsoft.com/office/drawing/2014/main" id="{7121C6CE-A0D5-06BC-6E87-0F3F3CC293C9}"/>
                </a:ext>
              </a:extLst>
            </p:cNvPr>
            <p:cNvPicPr>
              <a:picLocks noChangeAspect="1"/>
            </p:cNvPicPr>
            <p:nvPr/>
          </p:nvPicPr>
          <p:blipFill>
            <a:blip r:embed="rId4"/>
            <a:stretch>
              <a:fillRect/>
            </a:stretch>
          </p:blipFill>
          <p:spPr>
            <a:xfrm>
              <a:off x="7088409" y="1589709"/>
              <a:ext cx="1162241" cy="1162241"/>
            </a:xfrm>
            <a:prstGeom prst="rect">
              <a:avLst/>
            </a:prstGeom>
          </p:spPr>
        </p:pic>
        <p:sp>
          <p:nvSpPr>
            <p:cNvPr id="34" name="Rectangle: Rounded Corners 33">
              <a:extLst>
                <a:ext uri="{FF2B5EF4-FFF2-40B4-BE49-F238E27FC236}">
                  <a16:creationId xmlns:a16="http://schemas.microsoft.com/office/drawing/2014/main" id="{9F4A5332-C337-4986-C83B-AA2C8CC1FCAB}"/>
                </a:ext>
              </a:extLst>
            </p:cNvPr>
            <p:cNvSpPr/>
            <p:nvPr/>
          </p:nvSpPr>
          <p:spPr>
            <a:xfrm>
              <a:off x="6272919" y="1206602"/>
              <a:ext cx="2734310" cy="4786531"/>
            </a:xfrm>
            <a:prstGeom prst="roundRect">
              <a:avLst>
                <a:gd name="adj" fmla="val 6451"/>
              </a:avLst>
            </a:prstGeom>
            <a:noFill/>
            <a:ln w="19050">
              <a:solidFill>
                <a:srgbClr val="2F1F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 name="Group 38">
            <a:extLst>
              <a:ext uri="{FF2B5EF4-FFF2-40B4-BE49-F238E27FC236}">
                <a16:creationId xmlns:a16="http://schemas.microsoft.com/office/drawing/2014/main" id="{BE3D2162-BCCE-38B0-E685-825755772E04}"/>
              </a:ext>
            </a:extLst>
          </p:cNvPr>
          <p:cNvGrpSpPr/>
          <p:nvPr/>
        </p:nvGrpSpPr>
        <p:grpSpPr>
          <a:xfrm>
            <a:off x="9235001" y="1348873"/>
            <a:ext cx="2734310" cy="4786531"/>
            <a:chOff x="9235001" y="1206602"/>
            <a:chExt cx="2734310" cy="4786531"/>
          </a:xfrm>
        </p:grpSpPr>
        <p:sp>
          <p:nvSpPr>
            <p:cNvPr id="20" name="TextBox 19">
              <a:extLst>
                <a:ext uri="{FF2B5EF4-FFF2-40B4-BE49-F238E27FC236}">
                  <a16:creationId xmlns:a16="http://schemas.microsoft.com/office/drawing/2014/main" id="{645995F4-19AA-956D-76CE-A329137691A8}"/>
                </a:ext>
              </a:extLst>
            </p:cNvPr>
            <p:cNvSpPr txBox="1"/>
            <p:nvPr/>
          </p:nvSpPr>
          <p:spPr>
            <a:xfrm>
              <a:off x="9521386" y="3206833"/>
              <a:ext cx="2161540" cy="1600438"/>
            </a:xfrm>
            <a:prstGeom prst="rect">
              <a:avLst/>
            </a:prstGeom>
            <a:noFill/>
          </p:spPr>
          <p:txBody>
            <a:bodyPr wrap="square">
              <a:spAutoFit/>
            </a:bodyPr>
            <a:lstStyle/>
            <a:p>
              <a:pPr algn="ctr"/>
              <a:r>
                <a:rPr lang="en-GB" sz="1400" b="0" i="0" dirty="0">
                  <a:solidFill>
                    <a:srgbClr val="2F1F22"/>
                  </a:solidFill>
                  <a:effectLst/>
                  <a:latin typeface="Aharoni" panose="02010803020104030203" pitchFamily="2" charset="-79"/>
                  <a:cs typeface="Aharoni" panose="02010803020104030203" pitchFamily="2" charset="-79"/>
                </a:rPr>
                <a:t>Aim is to provide organizations with robust tools to detect suspicious activities in real-time, minimize losses, and enhance overall security.</a:t>
              </a:r>
              <a:endParaRPr lang="en-GB" sz="1400" dirty="0">
                <a:solidFill>
                  <a:srgbClr val="2F1F22"/>
                </a:solidFill>
                <a:latin typeface="Aharoni" panose="02010803020104030203" pitchFamily="2" charset="-79"/>
                <a:cs typeface="Aharoni" panose="02010803020104030203" pitchFamily="2" charset="-79"/>
              </a:endParaRPr>
            </a:p>
          </p:txBody>
        </p:sp>
        <p:pic>
          <p:nvPicPr>
            <p:cNvPr id="28" name="Picture 27">
              <a:extLst>
                <a:ext uri="{FF2B5EF4-FFF2-40B4-BE49-F238E27FC236}">
                  <a16:creationId xmlns:a16="http://schemas.microsoft.com/office/drawing/2014/main" id="{88710E8E-FC1E-3490-9017-3508B2B44958}"/>
                </a:ext>
              </a:extLst>
            </p:cNvPr>
            <p:cNvPicPr>
              <a:picLocks noChangeAspect="1"/>
            </p:cNvPicPr>
            <p:nvPr/>
          </p:nvPicPr>
          <p:blipFill>
            <a:blip r:embed="rId5"/>
            <a:stretch>
              <a:fillRect/>
            </a:stretch>
          </p:blipFill>
          <p:spPr>
            <a:xfrm>
              <a:off x="10062210" y="1522437"/>
              <a:ext cx="1079892" cy="1079892"/>
            </a:xfrm>
            <a:prstGeom prst="rect">
              <a:avLst/>
            </a:prstGeom>
          </p:spPr>
        </p:pic>
        <p:sp>
          <p:nvSpPr>
            <p:cNvPr id="35" name="Rectangle: Rounded Corners 34">
              <a:extLst>
                <a:ext uri="{FF2B5EF4-FFF2-40B4-BE49-F238E27FC236}">
                  <a16:creationId xmlns:a16="http://schemas.microsoft.com/office/drawing/2014/main" id="{F6792585-CD8E-E8C0-7366-243387F9C152}"/>
                </a:ext>
              </a:extLst>
            </p:cNvPr>
            <p:cNvSpPr/>
            <p:nvPr/>
          </p:nvSpPr>
          <p:spPr>
            <a:xfrm>
              <a:off x="9235001" y="1206602"/>
              <a:ext cx="2734310" cy="4786531"/>
            </a:xfrm>
            <a:prstGeom prst="roundRect">
              <a:avLst>
                <a:gd name="adj" fmla="val 6451"/>
              </a:avLst>
            </a:prstGeom>
            <a:noFill/>
            <a:ln w="19050">
              <a:solidFill>
                <a:srgbClr val="2F1F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0" name="Rectangle 39">
            <a:extLst>
              <a:ext uri="{FF2B5EF4-FFF2-40B4-BE49-F238E27FC236}">
                <a16:creationId xmlns:a16="http://schemas.microsoft.com/office/drawing/2014/main" id="{E160F17E-5653-6FF1-3D47-B606D9AF592A}"/>
              </a:ext>
            </a:extLst>
          </p:cNvPr>
          <p:cNvSpPr/>
          <p:nvPr/>
        </p:nvSpPr>
        <p:spPr>
          <a:xfrm>
            <a:off x="11253962" y="6555242"/>
            <a:ext cx="857927" cy="369332"/>
          </a:xfrm>
          <a:prstGeom prst="rect">
            <a:avLst/>
          </a:prstGeom>
          <a:noFill/>
        </p:spPr>
        <p:txBody>
          <a:bodyPr wrap="none" lIns="91440" tIns="45720" rIns="91440" bIns="45720">
            <a:spAutoFit/>
          </a:bodyPr>
          <a:lstStyle/>
          <a:p>
            <a:pPr algn="ctr"/>
            <a:r>
              <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Page </a:t>
            </a:r>
            <a:r>
              <a:rPr lang="en-US"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01</a:t>
            </a:r>
            <a:endPar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465744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FF18B7-52E0-337C-0E52-95678D965479}"/>
              </a:ext>
            </a:extLst>
          </p:cNvPr>
          <p:cNvSpPr/>
          <p:nvPr/>
        </p:nvSpPr>
        <p:spPr>
          <a:xfrm>
            <a:off x="0" y="-1"/>
            <a:ext cx="12192000" cy="891251"/>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898F8506-C956-09CF-582B-3AF2F8719A77}"/>
              </a:ext>
            </a:extLst>
          </p:cNvPr>
          <p:cNvSpPr/>
          <p:nvPr/>
        </p:nvSpPr>
        <p:spPr>
          <a:xfrm>
            <a:off x="0" y="6624320"/>
            <a:ext cx="12192000" cy="248920"/>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3BF8A241-0DCE-3D51-1F15-53E18E4A02A8}"/>
              </a:ext>
            </a:extLst>
          </p:cNvPr>
          <p:cNvSpPr/>
          <p:nvPr/>
        </p:nvSpPr>
        <p:spPr>
          <a:xfrm>
            <a:off x="-104172" y="-1"/>
            <a:ext cx="1145894" cy="891251"/>
          </a:xfrm>
          <a:prstGeom prst="roundRect">
            <a:avLst/>
          </a:prstGeom>
          <a:solidFill>
            <a:srgbClr val="EE4B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3D07A22-C7CE-ADC4-CD58-3E7BC2935F00}"/>
              </a:ext>
            </a:extLst>
          </p:cNvPr>
          <p:cNvSpPr/>
          <p:nvPr/>
        </p:nvSpPr>
        <p:spPr>
          <a:xfrm>
            <a:off x="4420700" y="0"/>
            <a:ext cx="3350597" cy="830997"/>
          </a:xfrm>
          <a:prstGeom prst="rect">
            <a:avLst/>
          </a:prstGeom>
          <a:noFill/>
        </p:spPr>
        <p:txBody>
          <a:bodyPr wrap="none" lIns="91440" tIns="45720" rIns="91440" bIns="45720">
            <a:spAutoFit/>
          </a:bodyPr>
          <a:lstStyle/>
          <a:p>
            <a:pPr algn="ctr"/>
            <a:r>
              <a:rPr lang="en-US" sz="4800" b="1"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Motivation</a:t>
            </a:r>
            <a:endParaRPr lang="en-US" sz="5400" b="1" cap="none" spc="0"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2" name="Rectangle 11">
            <a:extLst>
              <a:ext uri="{FF2B5EF4-FFF2-40B4-BE49-F238E27FC236}">
                <a16:creationId xmlns:a16="http://schemas.microsoft.com/office/drawing/2014/main" id="{F4D31A2A-AFAE-A898-19DB-F312EEFA24DF}"/>
              </a:ext>
            </a:extLst>
          </p:cNvPr>
          <p:cNvSpPr/>
          <p:nvPr/>
        </p:nvSpPr>
        <p:spPr>
          <a:xfrm>
            <a:off x="89504" y="-32080"/>
            <a:ext cx="758541" cy="923330"/>
          </a:xfrm>
          <a:prstGeom prst="rect">
            <a:avLst/>
          </a:prstGeom>
          <a:noFill/>
        </p:spPr>
        <p:txBody>
          <a:bodyPr wrap="none" lIns="91440" tIns="45720" rIns="91440" bIns="45720">
            <a:spAutoFit/>
          </a:bodyPr>
          <a:lstStyle/>
          <a:p>
            <a:pPr algn="ctr"/>
            <a:r>
              <a:rPr lang="en-US" sz="5400" b="1"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02</a:t>
            </a:r>
          </a:p>
        </p:txBody>
      </p:sp>
      <p:grpSp>
        <p:nvGrpSpPr>
          <p:cNvPr id="20" name="Group 19">
            <a:extLst>
              <a:ext uri="{FF2B5EF4-FFF2-40B4-BE49-F238E27FC236}">
                <a16:creationId xmlns:a16="http://schemas.microsoft.com/office/drawing/2014/main" id="{BF81834A-859F-77EF-C5B3-E3575F93E904}"/>
              </a:ext>
            </a:extLst>
          </p:cNvPr>
          <p:cNvGrpSpPr/>
          <p:nvPr/>
        </p:nvGrpSpPr>
        <p:grpSpPr>
          <a:xfrm>
            <a:off x="468774" y="4494815"/>
            <a:ext cx="3516629" cy="1859280"/>
            <a:chOff x="532917" y="4494815"/>
            <a:chExt cx="3516629" cy="1859280"/>
          </a:xfrm>
        </p:grpSpPr>
        <p:sp>
          <p:nvSpPr>
            <p:cNvPr id="9" name="TextBox 8">
              <a:extLst>
                <a:ext uri="{FF2B5EF4-FFF2-40B4-BE49-F238E27FC236}">
                  <a16:creationId xmlns:a16="http://schemas.microsoft.com/office/drawing/2014/main" id="{E4863A32-3059-D5EB-6DA0-6DED117C7B56}"/>
                </a:ext>
              </a:extLst>
            </p:cNvPr>
            <p:cNvSpPr txBox="1"/>
            <p:nvPr/>
          </p:nvSpPr>
          <p:spPr>
            <a:xfrm>
              <a:off x="598057" y="4777120"/>
              <a:ext cx="3386351" cy="1323439"/>
            </a:xfrm>
            <a:prstGeom prst="rect">
              <a:avLst/>
            </a:prstGeom>
            <a:noFill/>
            <a:ln>
              <a:noFill/>
            </a:ln>
          </p:spPr>
          <p:txBody>
            <a:bodyPr wrap="square">
              <a:spAutoFit/>
            </a:bodyPr>
            <a:lstStyle/>
            <a:p>
              <a:pPr algn="ctr"/>
              <a:r>
                <a:rPr lang="en-GB" sz="1600" b="0" i="0" dirty="0">
                  <a:solidFill>
                    <a:srgbClr val="2F1F22"/>
                  </a:solidFill>
                  <a:effectLst/>
                  <a:latin typeface="Aharoni" panose="02010803020104030203" pitchFamily="2" charset="-79"/>
                  <a:cs typeface="Aharoni" panose="02010803020104030203" pitchFamily="2" charset="-79"/>
                </a:rPr>
                <a:t>Detecting fraud in bank accounts through the training of machine learning models offers several compelling benefits for financial institutions</a:t>
              </a:r>
              <a:endParaRPr lang="en-GB" sz="1600" dirty="0">
                <a:solidFill>
                  <a:srgbClr val="2F1F22"/>
                </a:solidFill>
                <a:latin typeface="Aharoni" panose="02010803020104030203" pitchFamily="2" charset="-79"/>
                <a:cs typeface="Aharoni" panose="02010803020104030203" pitchFamily="2" charset="-79"/>
              </a:endParaRPr>
            </a:p>
          </p:txBody>
        </p:sp>
        <p:sp>
          <p:nvSpPr>
            <p:cNvPr id="10" name="Rectangle 9">
              <a:extLst>
                <a:ext uri="{FF2B5EF4-FFF2-40B4-BE49-F238E27FC236}">
                  <a16:creationId xmlns:a16="http://schemas.microsoft.com/office/drawing/2014/main" id="{E4EBCCA0-C53A-9466-EF87-B1D0AED15BC5}"/>
                </a:ext>
              </a:extLst>
            </p:cNvPr>
            <p:cNvSpPr/>
            <p:nvPr/>
          </p:nvSpPr>
          <p:spPr>
            <a:xfrm>
              <a:off x="532917" y="4494815"/>
              <a:ext cx="3516629" cy="1859280"/>
            </a:xfrm>
            <a:prstGeom prst="rect">
              <a:avLst/>
            </a:prstGeom>
            <a:noFill/>
            <a:ln w="19050">
              <a:solidFill>
                <a:srgbClr val="2F1F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8" name="Group 17">
            <a:extLst>
              <a:ext uri="{FF2B5EF4-FFF2-40B4-BE49-F238E27FC236}">
                <a16:creationId xmlns:a16="http://schemas.microsoft.com/office/drawing/2014/main" id="{38377307-E606-CACE-0A46-BFD779991856}"/>
              </a:ext>
            </a:extLst>
          </p:cNvPr>
          <p:cNvGrpSpPr/>
          <p:nvPr/>
        </p:nvGrpSpPr>
        <p:grpSpPr>
          <a:xfrm>
            <a:off x="4384489" y="4478125"/>
            <a:ext cx="3516629" cy="1859280"/>
            <a:chOff x="4344721" y="4478125"/>
            <a:chExt cx="3516629" cy="1859280"/>
          </a:xfrm>
        </p:grpSpPr>
        <p:sp>
          <p:nvSpPr>
            <p:cNvPr id="6" name="TextBox 5">
              <a:extLst>
                <a:ext uri="{FF2B5EF4-FFF2-40B4-BE49-F238E27FC236}">
                  <a16:creationId xmlns:a16="http://schemas.microsoft.com/office/drawing/2014/main" id="{0D23CCD9-8678-2ED2-A643-5E6231EE061B}"/>
                </a:ext>
              </a:extLst>
            </p:cNvPr>
            <p:cNvSpPr txBox="1"/>
            <p:nvPr/>
          </p:nvSpPr>
          <p:spPr>
            <a:xfrm>
              <a:off x="4492141" y="4762735"/>
              <a:ext cx="3309620" cy="1323439"/>
            </a:xfrm>
            <a:prstGeom prst="rect">
              <a:avLst/>
            </a:prstGeom>
            <a:noFill/>
            <a:ln>
              <a:noFill/>
            </a:ln>
          </p:spPr>
          <p:txBody>
            <a:bodyPr wrap="square">
              <a:spAutoFit/>
            </a:bodyPr>
            <a:lstStyle/>
            <a:p>
              <a:pPr algn="ctr"/>
              <a:r>
                <a:rPr lang="en-GB" sz="1600" b="1" i="0" dirty="0">
                  <a:solidFill>
                    <a:srgbClr val="2F1F22"/>
                  </a:solidFill>
                  <a:effectLst/>
                  <a:latin typeface="Aharoni" panose="02010803020104030203" pitchFamily="2" charset="-79"/>
                  <a:cs typeface="Aharoni" panose="02010803020104030203" pitchFamily="2" charset="-79"/>
                </a:rPr>
                <a:t>data analysis </a:t>
              </a:r>
              <a:r>
                <a:rPr lang="en-GB" sz="1600" b="1" dirty="0">
                  <a:solidFill>
                    <a:srgbClr val="2F1F22"/>
                  </a:solidFill>
                  <a:latin typeface="Aharoni" panose="02010803020104030203" pitchFamily="2" charset="-79"/>
                  <a:cs typeface="Aharoni" panose="02010803020104030203" pitchFamily="2" charset="-79"/>
                </a:rPr>
                <a:t>can</a:t>
              </a:r>
              <a:r>
                <a:rPr lang="en-GB" sz="1600" b="1" i="0" dirty="0">
                  <a:solidFill>
                    <a:srgbClr val="2F1F22"/>
                  </a:solidFill>
                  <a:effectLst/>
                  <a:latin typeface="Aharoni" panose="02010803020104030203" pitchFamily="2" charset="-79"/>
                  <a:cs typeface="Aharoni" panose="02010803020104030203" pitchFamily="2" charset="-79"/>
                </a:rPr>
                <a:t> provide a more comprehensive solution </a:t>
              </a:r>
              <a:r>
                <a:rPr lang="en-GB" sz="1600" b="1" dirty="0">
                  <a:solidFill>
                    <a:srgbClr val="2F1F22"/>
                  </a:solidFill>
                  <a:latin typeface="Aharoni" panose="02010803020104030203" pitchFamily="2" charset="-79"/>
                  <a:cs typeface="Aharoni" panose="02010803020104030203" pitchFamily="2" charset="-79"/>
                </a:rPr>
                <a:t>then traditional rule-based technique and </a:t>
              </a:r>
              <a:r>
                <a:rPr lang="en-GB" sz="1600" b="0" i="0" dirty="0">
                  <a:solidFill>
                    <a:srgbClr val="2F1F22"/>
                  </a:solidFill>
                  <a:effectLst/>
                  <a:latin typeface="Aharoni" panose="02010803020104030203" pitchFamily="2" charset="-79"/>
                  <a:cs typeface="Aharoni" panose="02010803020104030203" pitchFamily="2" charset="-79"/>
                </a:rPr>
                <a:t>manual investigations</a:t>
              </a:r>
              <a:endParaRPr lang="en-GB" sz="1600" b="1" dirty="0">
                <a:solidFill>
                  <a:srgbClr val="2F1F22"/>
                </a:solidFill>
                <a:latin typeface="Aharoni" panose="02010803020104030203" pitchFamily="2" charset="-79"/>
                <a:cs typeface="Aharoni" panose="02010803020104030203" pitchFamily="2" charset="-79"/>
              </a:endParaRPr>
            </a:p>
          </p:txBody>
        </p:sp>
        <p:sp>
          <p:nvSpPr>
            <p:cNvPr id="15" name="Rectangle 14">
              <a:extLst>
                <a:ext uri="{FF2B5EF4-FFF2-40B4-BE49-F238E27FC236}">
                  <a16:creationId xmlns:a16="http://schemas.microsoft.com/office/drawing/2014/main" id="{7A0E840D-BB5E-FE30-272D-C05D02AFE687}"/>
                </a:ext>
              </a:extLst>
            </p:cNvPr>
            <p:cNvSpPr/>
            <p:nvPr/>
          </p:nvSpPr>
          <p:spPr>
            <a:xfrm>
              <a:off x="4344721" y="4478125"/>
              <a:ext cx="3516629" cy="1859280"/>
            </a:xfrm>
            <a:prstGeom prst="rect">
              <a:avLst/>
            </a:prstGeom>
            <a:noFill/>
            <a:ln w="19050">
              <a:solidFill>
                <a:srgbClr val="2F1F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D0ED6863-3B67-A5BF-BC69-670FBA1F4381}"/>
              </a:ext>
            </a:extLst>
          </p:cNvPr>
          <p:cNvGrpSpPr/>
          <p:nvPr/>
        </p:nvGrpSpPr>
        <p:grpSpPr>
          <a:xfrm>
            <a:off x="8300204" y="4478125"/>
            <a:ext cx="3516629" cy="1859280"/>
            <a:chOff x="8303628" y="4478125"/>
            <a:chExt cx="3516629" cy="1859280"/>
          </a:xfrm>
        </p:grpSpPr>
        <p:sp>
          <p:nvSpPr>
            <p:cNvPr id="2" name="Rectangle 1">
              <a:extLst>
                <a:ext uri="{FF2B5EF4-FFF2-40B4-BE49-F238E27FC236}">
                  <a16:creationId xmlns:a16="http://schemas.microsoft.com/office/drawing/2014/main" id="{FC11F5D4-361D-A3C4-9319-886B5B5AA0D4}"/>
                </a:ext>
              </a:extLst>
            </p:cNvPr>
            <p:cNvSpPr/>
            <p:nvPr/>
          </p:nvSpPr>
          <p:spPr>
            <a:xfrm>
              <a:off x="8593089" y="4639624"/>
              <a:ext cx="3065991" cy="1569660"/>
            </a:xfrm>
            <a:prstGeom prst="rect">
              <a:avLst/>
            </a:prstGeom>
            <a:noFill/>
            <a:ln>
              <a:noFill/>
            </a:ln>
          </p:spPr>
          <p:txBody>
            <a:bodyPr wrap="square" lIns="91440" tIns="45720" rIns="91440" bIns="45720">
              <a:spAutoFit/>
            </a:bodyPr>
            <a:lstStyle/>
            <a:p>
              <a:pPr algn="ctr"/>
              <a:r>
                <a:rPr lang="en-GB" sz="1600" b="1" i="0" dirty="0">
                  <a:solidFill>
                    <a:srgbClr val="2F1F22"/>
                  </a:solidFill>
                  <a:effectLst/>
                  <a:latin typeface="Aharoni" panose="02010803020104030203" pitchFamily="2" charset="-79"/>
                  <a:cs typeface="Aharoni" panose="02010803020104030203" pitchFamily="2" charset="-79"/>
                </a:rPr>
                <a:t>The insights gained from data analysis can aid in the development of proactive fraud prevention measures, enabling banks to minimize financial losses</a:t>
              </a:r>
              <a:endParaRPr lang="en-US" sz="1600" b="1" cap="none" spc="0" dirty="0">
                <a:ln w="0"/>
                <a:solidFill>
                  <a:srgbClr val="2F1F22"/>
                </a:solidFill>
                <a:latin typeface="Aharoni" panose="02010803020104030203" pitchFamily="2" charset="-79"/>
                <a:cs typeface="Aharoni" panose="02010803020104030203" pitchFamily="2" charset="-79"/>
              </a:endParaRPr>
            </a:p>
          </p:txBody>
        </p:sp>
        <p:sp>
          <p:nvSpPr>
            <p:cNvPr id="16" name="Rectangle 15">
              <a:extLst>
                <a:ext uri="{FF2B5EF4-FFF2-40B4-BE49-F238E27FC236}">
                  <a16:creationId xmlns:a16="http://schemas.microsoft.com/office/drawing/2014/main" id="{D35F4F7C-4332-3B2F-451A-35A3894DFEF1}"/>
                </a:ext>
              </a:extLst>
            </p:cNvPr>
            <p:cNvSpPr/>
            <p:nvPr/>
          </p:nvSpPr>
          <p:spPr>
            <a:xfrm>
              <a:off x="8303628" y="4478125"/>
              <a:ext cx="3516629" cy="1859280"/>
            </a:xfrm>
            <a:prstGeom prst="rect">
              <a:avLst/>
            </a:prstGeom>
            <a:noFill/>
            <a:ln w="19050">
              <a:solidFill>
                <a:srgbClr val="2F1F2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2" name="Picture 21">
            <a:extLst>
              <a:ext uri="{FF2B5EF4-FFF2-40B4-BE49-F238E27FC236}">
                <a16:creationId xmlns:a16="http://schemas.microsoft.com/office/drawing/2014/main" id="{2D6BA134-129C-0AC8-AAB4-448CDDC98A4D}"/>
              </a:ext>
            </a:extLst>
          </p:cNvPr>
          <p:cNvPicPr>
            <a:picLocks noChangeAspect="1"/>
          </p:cNvPicPr>
          <p:nvPr/>
        </p:nvPicPr>
        <p:blipFill>
          <a:blip r:embed="rId2"/>
          <a:stretch>
            <a:fillRect/>
          </a:stretch>
        </p:blipFill>
        <p:spPr>
          <a:xfrm>
            <a:off x="9076180" y="1971040"/>
            <a:ext cx="1859280" cy="1859280"/>
          </a:xfrm>
          <a:prstGeom prst="rect">
            <a:avLst/>
          </a:prstGeom>
        </p:spPr>
      </p:pic>
      <p:pic>
        <p:nvPicPr>
          <p:cNvPr id="24" name="Picture 23">
            <a:extLst>
              <a:ext uri="{FF2B5EF4-FFF2-40B4-BE49-F238E27FC236}">
                <a16:creationId xmlns:a16="http://schemas.microsoft.com/office/drawing/2014/main" id="{900F976B-D2C0-4B57-64D8-3B5ED58A430C}"/>
              </a:ext>
            </a:extLst>
          </p:cNvPr>
          <p:cNvPicPr>
            <a:picLocks noChangeAspect="1"/>
          </p:cNvPicPr>
          <p:nvPr/>
        </p:nvPicPr>
        <p:blipFill>
          <a:blip r:embed="rId3"/>
          <a:stretch>
            <a:fillRect/>
          </a:stretch>
        </p:blipFill>
        <p:spPr>
          <a:xfrm>
            <a:off x="1256540" y="1971039"/>
            <a:ext cx="1859281" cy="1859281"/>
          </a:xfrm>
          <a:prstGeom prst="rect">
            <a:avLst/>
          </a:prstGeom>
        </p:spPr>
      </p:pic>
      <p:pic>
        <p:nvPicPr>
          <p:cNvPr id="26" name="Picture 25">
            <a:extLst>
              <a:ext uri="{FF2B5EF4-FFF2-40B4-BE49-F238E27FC236}">
                <a16:creationId xmlns:a16="http://schemas.microsoft.com/office/drawing/2014/main" id="{543A1722-3255-A6C0-EFE4-BF28D028DD98}"/>
              </a:ext>
            </a:extLst>
          </p:cNvPr>
          <p:cNvPicPr>
            <a:picLocks noChangeAspect="1"/>
          </p:cNvPicPr>
          <p:nvPr/>
        </p:nvPicPr>
        <p:blipFill>
          <a:blip r:embed="rId4"/>
          <a:stretch>
            <a:fillRect/>
          </a:stretch>
        </p:blipFill>
        <p:spPr>
          <a:xfrm>
            <a:off x="5166359" y="1971039"/>
            <a:ext cx="1859281" cy="1859281"/>
          </a:xfrm>
          <a:prstGeom prst="rect">
            <a:avLst/>
          </a:prstGeom>
        </p:spPr>
      </p:pic>
      <p:sp>
        <p:nvSpPr>
          <p:cNvPr id="27" name="Rectangle 26">
            <a:extLst>
              <a:ext uri="{FF2B5EF4-FFF2-40B4-BE49-F238E27FC236}">
                <a16:creationId xmlns:a16="http://schemas.microsoft.com/office/drawing/2014/main" id="{96185BEB-FC81-8C8F-88C2-AA06284A1868}"/>
              </a:ext>
            </a:extLst>
          </p:cNvPr>
          <p:cNvSpPr/>
          <p:nvPr/>
        </p:nvSpPr>
        <p:spPr>
          <a:xfrm>
            <a:off x="11253962" y="6555242"/>
            <a:ext cx="857927" cy="369332"/>
          </a:xfrm>
          <a:prstGeom prst="rect">
            <a:avLst/>
          </a:prstGeom>
          <a:noFill/>
        </p:spPr>
        <p:txBody>
          <a:bodyPr wrap="none" lIns="91440" tIns="45720" rIns="91440" bIns="45720">
            <a:spAutoFit/>
          </a:bodyPr>
          <a:lstStyle/>
          <a:p>
            <a:pPr algn="ctr"/>
            <a:r>
              <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Page </a:t>
            </a:r>
            <a:r>
              <a:rPr lang="en-US"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02</a:t>
            </a:r>
            <a:endPar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006800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FF18B7-52E0-337C-0E52-95678D965479}"/>
              </a:ext>
            </a:extLst>
          </p:cNvPr>
          <p:cNvSpPr/>
          <p:nvPr/>
        </p:nvSpPr>
        <p:spPr>
          <a:xfrm>
            <a:off x="0" y="-1"/>
            <a:ext cx="12192000" cy="891251"/>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898F8506-C956-09CF-582B-3AF2F8719A77}"/>
              </a:ext>
            </a:extLst>
          </p:cNvPr>
          <p:cNvSpPr/>
          <p:nvPr/>
        </p:nvSpPr>
        <p:spPr>
          <a:xfrm>
            <a:off x="0" y="6624320"/>
            <a:ext cx="12192000" cy="248920"/>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3BF8A241-0DCE-3D51-1F15-53E18E4A02A8}"/>
              </a:ext>
            </a:extLst>
          </p:cNvPr>
          <p:cNvSpPr/>
          <p:nvPr/>
        </p:nvSpPr>
        <p:spPr>
          <a:xfrm>
            <a:off x="-104172" y="-1"/>
            <a:ext cx="1145894" cy="891251"/>
          </a:xfrm>
          <a:prstGeom prst="roundRect">
            <a:avLst/>
          </a:prstGeom>
          <a:solidFill>
            <a:srgbClr val="EE4B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3D07A22-C7CE-ADC4-CD58-3E7BC2935F00}"/>
              </a:ext>
            </a:extLst>
          </p:cNvPr>
          <p:cNvSpPr/>
          <p:nvPr/>
        </p:nvSpPr>
        <p:spPr>
          <a:xfrm>
            <a:off x="4746111" y="56554"/>
            <a:ext cx="2699777" cy="769441"/>
          </a:xfrm>
          <a:prstGeom prst="rect">
            <a:avLst/>
          </a:prstGeom>
          <a:noFill/>
        </p:spPr>
        <p:txBody>
          <a:bodyPr wrap="none" lIns="91440" tIns="45720" rIns="91440" bIns="45720">
            <a:spAutoFit/>
          </a:bodyPr>
          <a:lstStyle/>
          <a:p>
            <a:pPr algn="ctr"/>
            <a:r>
              <a:rPr lang="en-US" sz="4400" b="1" cap="none" spc="0"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Objective</a:t>
            </a:r>
          </a:p>
        </p:txBody>
      </p:sp>
      <p:sp>
        <p:nvSpPr>
          <p:cNvPr id="12" name="Rectangle 11">
            <a:extLst>
              <a:ext uri="{FF2B5EF4-FFF2-40B4-BE49-F238E27FC236}">
                <a16:creationId xmlns:a16="http://schemas.microsoft.com/office/drawing/2014/main" id="{F4D31A2A-AFAE-A898-19DB-F312EEFA24DF}"/>
              </a:ext>
            </a:extLst>
          </p:cNvPr>
          <p:cNvSpPr/>
          <p:nvPr/>
        </p:nvSpPr>
        <p:spPr>
          <a:xfrm>
            <a:off x="89504" y="-32080"/>
            <a:ext cx="758541" cy="923330"/>
          </a:xfrm>
          <a:prstGeom prst="rect">
            <a:avLst/>
          </a:prstGeom>
          <a:noFill/>
        </p:spPr>
        <p:txBody>
          <a:bodyPr wrap="none" lIns="91440" tIns="45720" rIns="91440" bIns="45720">
            <a:spAutoFit/>
          </a:bodyPr>
          <a:lstStyle/>
          <a:p>
            <a:pPr algn="ctr"/>
            <a:r>
              <a:rPr lang="en-US" sz="5400" b="1"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03</a:t>
            </a:r>
          </a:p>
        </p:txBody>
      </p:sp>
      <p:grpSp>
        <p:nvGrpSpPr>
          <p:cNvPr id="6" name="Group 5">
            <a:extLst>
              <a:ext uri="{FF2B5EF4-FFF2-40B4-BE49-F238E27FC236}">
                <a16:creationId xmlns:a16="http://schemas.microsoft.com/office/drawing/2014/main" id="{86FC18F1-C5FF-D79F-24F1-1981B79CBC4A}"/>
              </a:ext>
            </a:extLst>
          </p:cNvPr>
          <p:cNvGrpSpPr/>
          <p:nvPr/>
        </p:nvGrpSpPr>
        <p:grpSpPr>
          <a:xfrm>
            <a:off x="1365813" y="1070097"/>
            <a:ext cx="1859722" cy="2515580"/>
            <a:chOff x="486138" y="891249"/>
            <a:chExt cx="1724627" cy="2341229"/>
          </a:xfrm>
        </p:grpSpPr>
        <p:sp>
          <p:nvSpPr>
            <p:cNvPr id="2" name="Rectangle: Rounded Corners 1">
              <a:extLst>
                <a:ext uri="{FF2B5EF4-FFF2-40B4-BE49-F238E27FC236}">
                  <a16:creationId xmlns:a16="http://schemas.microsoft.com/office/drawing/2014/main" id="{1C12BF75-99D0-8681-BB51-8ADDDA9709C5}"/>
                </a:ext>
              </a:extLst>
            </p:cNvPr>
            <p:cNvSpPr/>
            <p:nvPr/>
          </p:nvSpPr>
          <p:spPr>
            <a:xfrm>
              <a:off x="486138" y="1322655"/>
              <a:ext cx="1724627" cy="1909823"/>
            </a:xfrm>
            <a:prstGeom prst="roundRect">
              <a:avLst/>
            </a:prstGeom>
            <a:noFill/>
            <a:ln w="38100">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Oval 2">
              <a:extLst>
                <a:ext uri="{FF2B5EF4-FFF2-40B4-BE49-F238E27FC236}">
                  <a16:creationId xmlns:a16="http://schemas.microsoft.com/office/drawing/2014/main" id="{D1904632-F75A-D683-E23D-42699C7294A3}"/>
                </a:ext>
              </a:extLst>
            </p:cNvPr>
            <p:cNvSpPr/>
            <p:nvPr/>
          </p:nvSpPr>
          <p:spPr>
            <a:xfrm>
              <a:off x="931763" y="891249"/>
              <a:ext cx="833376" cy="810228"/>
            </a:xfrm>
            <a:prstGeom prst="ellipse">
              <a:avLst/>
            </a:prstGeom>
            <a:solidFill>
              <a:srgbClr val="EE4B7A"/>
            </a:solidFill>
            <a:ln>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 name="Group 7">
            <a:extLst>
              <a:ext uri="{FF2B5EF4-FFF2-40B4-BE49-F238E27FC236}">
                <a16:creationId xmlns:a16="http://schemas.microsoft.com/office/drawing/2014/main" id="{0BB08B02-1400-A615-6204-72ABC434680B}"/>
              </a:ext>
            </a:extLst>
          </p:cNvPr>
          <p:cNvGrpSpPr/>
          <p:nvPr/>
        </p:nvGrpSpPr>
        <p:grpSpPr>
          <a:xfrm>
            <a:off x="3751465" y="1070097"/>
            <a:ext cx="1859722" cy="2515580"/>
            <a:chOff x="486138" y="891249"/>
            <a:chExt cx="1724627" cy="2341229"/>
          </a:xfrm>
        </p:grpSpPr>
        <p:sp>
          <p:nvSpPr>
            <p:cNvPr id="9" name="Rectangle: Rounded Corners 8">
              <a:extLst>
                <a:ext uri="{FF2B5EF4-FFF2-40B4-BE49-F238E27FC236}">
                  <a16:creationId xmlns:a16="http://schemas.microsoft.com/office/drawing/2014/main" id="{B1558733-299B-6689-AC08-45E31A1AB26B}"/>
                </a:ext>
              </a:extLst>
            </p:cNvPr>
            <p:cNvSpPr/>
            <p:nvPr/>
          </p:nvSpPr>
          <p:spPr>
            <a:xfrm>
              <a:off x="486138" y="1322655"/>
              <a:ext cx="1724627" cy="1909823"/>
            </a:xfrm>
            <a:prstGeom prst="roundRect">
              <a:avLst/>
            </a:prstGeom>
            <a:noFill/>
            <a:ln w="38100">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E032CA37-02F9-6F75-3DA1-FF09CEE8CF80}"/>
                </a:ext>
              </a:extLst>
            </p:cNvPr>
            <p:cNvSpPr/>
            <p:nvPr/>
          </p:nvSpPr>
          <p:spPr>
            <a:xfrm>
              <a:off x="931763" y="891249"/>
              <a:ext cx="833376" cy="810228"/>
            </a:xfrm>
            <a:prstGeom prst="ellipse">
              <a:avLst/>
            </a:prstGeom>
            <a:solidFill>
              <a:srgbClr val="EE4B7A"/>
            </a:solidFill>
            <a:ln>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a:extLst>
              <a:ext uri="{FF2B5EF4-FFF2-40B4-BE49-F238E27FC236}">
                <a16:creationId xmlns:a16="http://schemas.microsoft.com/office/drawing/2014/main" id="{1162CB0E-EBB3-1BD1-9B8F-945D1C2987AF}"/>
              </a:ext>
            </a:extLst>
          </p:cNvPr>
          <p:cNvGrpSpPr/>
          <p:nvPr/>
        </p:nvGrpSpPr>
        <p:grpSpPr>
          <a:xfrm>
            <a:off x="6137117" y="1043137"/>
            <a:ext cx="1859722" cy="2515580"/>
            <a:chOff x="486138" y="891249"/>
            <a:chExt cx="1724627" cy="2341229"/>
          </a:xfrm>
        </p:grpSpPr>
        <p:sp>
          <p:nvSpPr>
            <p:cNvPr id="14" name="Rectangle: Rounded Corners 13">
              <a:extLst>
                <a:ext uri="{FF2B5EF4-FFF2-40B4-BE49-F238E27FC236}">
                  <a16:creationId xmlns:a16="http://schemas.microsoft.com/office/drawing/2014/main" id="{DAE23387-9CE4-16A7-3980-987F3C65215F}"/>
                </a:ext>
              </a:extLst>
            </p:cNvPr>
            <p:cNvSpPr/>
            <p:nvPr/>
          </p:nvSpPr>
          <p:spPr>
            <a:xfrm>
              <a:off x="486138" y="1322655"/>
              <a:ext cx="1724627" cy="1909823"/>
            </a:xfrm>
            <a:prstGeom prst="roundRect">
              <a:avLst/>
            </a:prstGeom>
            <a:noFill/>
            <a:ln w="38100">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0EC2D622-3417-7B29-2D37-EC4ED54D1CC7}"/>
                </a:ext>
              </a:extLst>
            </p:cNvPr>
            <p:cNvSpPr/>
            <p:nvPr/>
          </p:nvSpPr>
          <p:spPr>
            <a:xfrm>
              <a:off x="931763" y="891249"/>
              <a:ext cx="833376" cy="810228"/>
            </a:xfrm>
            <a:prstGeom prst="ellipse">
              <a:avLst/>
            </a:prstGeom>
            <a:solidFill>
              <a:srgbClr val="EE4B7A"/>
            </a:solidFill>
            <a:ln>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6" name="Group 15">
            <a:extLst>
              <a:ext uri="{FF2B5EF4-FFF2-40B4-BE49-F238E27FC236}">
                <a16:creationId xmlns:a16="http://schemas.microsoft.com/office/drawing/2014/main" id="{F186705D-DE75-D632-590C-B117F60AA75C}"/>
              </a:ext>
            </a:extLst>
          </p:cNvPr>
          <p:cNvGrpSpPr/>
          <p:nvPr/>
        </p:nvGrpSpPr>
        <p:grpSpPr>
          <a:xfrm>
            <a:off x="8522769" y="1070097"/>
            <a:ext cx="1859722" cy="2515580"/>
            <a:chOff x="486138" y="891249"/>
            <a:chExt cx="1724627" cy="2341229"/>
          </a:xfrm>
        </p:grpSpPr>
        <p:sp>
          <p:nvSpPr>
            <p:cNvPr id="17" name="Rectangle: Rounded Corners 16">
              <a:extLst>
                <a:ext uri="{FF2B5EF4-FFF2-40B4-BE49-F238E27FC236}">
                  <a16:creationId xmlns:a16="http://schemas.microsoft.com/office/drawing/2014/main" id="{608C8D5E-352F-2B79-4805-046F0B115B7B}"/>
                </a:ext>
              </a:extLst>
            </p:cNvPr>
            <p:cNvSpPr/>
            <p:nvPr/>
          </p:nvSpPr>
          <p:spPr>
            <a:xfrm>
              <a:off x="486138" y="1322655"/>
              <a:ext cx="1724627" cy="1909823"/>
            </a:xfrm>
            <a:prstGeom prst="roundRect">
              <a:avLst/>
            </a:prstGeom>
            <a:noFill/>
            <a:ln w="38100">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4A1407D3-E9F8-E520-76DC-93756FBAD0A7}"/>
                </a:ext>
              </a:extLst>
            </p:cNvPr>
            <p:cNvSpPr/>
            <p:nvPr/>
          </p:nvSpPr>
          <p:spPr>
            <a:xfrm>
              <a:off x="931763" y="891249"/>
              <a:ext cx="833376" cy="810228"/>
            </a:xfrm>
            <a:prstGeom prst="ellipse">
              <a:avLst/>
            </a:prstGeom>
            <a:solidFill>
              <a:srgbClr val="EE4B7A"/>
            </a:solidFill>
            <a:ln>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9" name="Group 18">
            <a:extLst>
              <a:ext uri="{FF2B5EF4-FFF2-40B4-BE49-F238E27FC236}">
                <a16:creationId xmlns:a16="http://schemas.microsoft.com/office/drawing/2014/main" id="{E4FFAB53-9E23-4C7C-B3FA-A900C55BDE21}"/>
              </a:ext>
            </a:extLst>
          </p:cNvPr>
          <p:cNvGrpSpPr/>
          <p:nvPr/>
        </p:nvGrpSpPr>
        <p:grpSpPr>
          <a:xfrm>
            <a:off x="1365815" y="3889576"/>
            <a:ext cx="1859722" cy="2515580"/>
            <a:chOff x="486138" y="891249"/>
            <a:chExt cx="1724627" cy="2341229"/>
          </a:xfrm>
        </p:grpSpPr>
        <p:sp>
          <p:nvSpPr>
            <p:cNvPr id="20" name="Rectangle: Rounded Corners 19">
              <a:extLst>
                <a:ext uri="{FF2B5EF4-FFF2-40B4-BE49-F238E27FC236}">
                  <a16:creationId xmlns:a16="http://schemas.microsoft.com/office/drawing/2014/main" id="{7AECEDD8-ADAD-C901-AFAE-79596A540357}"/>
                </a:ext>
              </a:extLst>
            </p:cNvPr>
            <p:cNvSpPr/>
            <p:nvPr/>
          </p:nvSpPr>
          <p:spPr>
            <a:xfrm>
              <a:off x="486138" y="1322655"/>
              <a:ext cx="1724627" cy="1909823"/>
            </a:xfrm>
            <a:prstGeom prst="roundRect">
              <a:avLst/>
            </a:prstGeom>
            <a:noFill/>
            <a:ln w="38100">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a:extLst>
                <a:ext uri="{FF2B5EF4-FFF2-40B4-BE49-F238E27FC236}">
                  <a16:creationId xmlns:a16="http://schemas.microsoft.com/office/drawing/2014/main" id="{6B1B7E89-8CE7-6D00-6CAC-DD6FDC12981D}"/>
                </a:ext>
              </a:extLst>
            </p:cNvPr>
            <p:cNvSpPr/>
            <p:nvPr/>
          </p:nvSpPr>
          <p:spPr>
            <a:xfrm>
              <a:off x="931763" y="891249"/>
              <a:ext cx="833376" cy="810228"/>
            </a:xfrm>
            <a:prstGeom prst="ellipse">
              <a:avLst/>
            </a:prstGeom>
            <a:solidFill>
              <a:srgbClr val="EE4B7A"/>
            </a:solidFill>
            <a:ln>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0F0F5E96-DAB5-4185-A0CD-9A9318E04B38}"/>
              </a:ext>
            </a:extLst>
          </p:cNvPr>
          <p:cNvGrpSpPr/>
          <p:nvPr/>
        </p:nvGrpSpPr>
        <p:grpSpPr>
          <a:xfrm>
            <a:off x="3751467" y="3889576"/>
            <a:ext cx="1859722" cy="2515580"/>
            <a:chOff x="486138" y="891249"/>
            <a:chExt cx="1724627" cy="2341229"/>
          </a:xfrm>
        </p:grpSpPr>
        <p:sp>
          <p:nvSpPr>
            <p:cNvPr id="23" name="Rectangle: Rounded Corners 22">
              <a:extLst>
                <a:ext uri="{FF2B5EF4-FFF2-40B4-BE49-F238E27FC236}">
                  <a16:creationId xmlns:a16="http://schemas.microsoft.com/office/drawing/2014/main" id="{07119040-760C-990B-68E2-3BB63D9BEF64}"/>
                </a:ext>
              </a:extLst>
            </p:cNvPr>
            <p:cNvSpPr/>
            <p:nvPr/>
          </p:nvSpPr>
          <p:spPr>
            <a:xfrm>
              <a:off x="486138" y="1322655"/>
              <a:ext cx="1724627" cy="1909823"/>
            </a:xfrm>
            <a:prstGeom prst="roundRect">
              <a:avLst/>
            </a:prstGeom>
            <a:noFill/>
            <a:ln w="38100">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BB1DA775-4553-0CE3-D9BC-C7BA74C47DFC}"/>
                </a:ext>
              </a:extLst>
            </p:cNvPr>
            <p:cNvSpPr/>
            <p:nvPr/>
          </p:nvSpPr>
          <p:spPr>
            <a:xfrm>
              <a:off x="931763" y="891249"/>
              <a:ext cx="833376" cy="810228"/>
            </a:xfrm>
            <a:prstGeom prst="ellipse">
              <a:avLst/>
            </a:prstGeom>
            <a:solidFill>
              <a:srgbClr val="EE4B7A"/>
            </a:solidFill>
            <a:ln>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5" name="Group 24">
            <a:extLst>
              <a:ext uri="{FF2B5EF4-FFF2-40B4-BE49-F238E27FC236}">
                <a16:creationId xmlns:a16="http://schemas.microsoft.com/office/drawing/2014/main" id="{43870DF0-7E03-F15C-77E3-A64658781692}"/>
              </a:ext>
            </a:extLst>
          </p:cNvPr>
          <p:cNvGrpSpPr/>
          <p:nvPr/>
        </p:nvGrpSpPr>
        <p:grpSpPr>
          <a:xfrm>
            <a:off x="6137119" y="3869692"/>
            <a:ext cx="1859722" cy="2515580"/>
            <a:chOff x="486138" y="891249"/>
            <a:chExt cx="1724627" cy="2341229"/>
          </a:xfrm>
        </p:grpSpPr>
        <p:sp>
          <p:nvSpPr>
            <p:cNvPr id="26" name="Rectangle: Rounded Corners 25">
              <a:extLst>
                <a:ext uri="{FF2B5EF4-FFF2-40B4-BE49-F238E27FC236}">
                  <a16:creationId xmlns:a16="http://schemas.microsoft.com/office/drawing/2014/main" id="{9B21B9D4-BF44-B5F9-4363-68F4FCC64536}"/>
                </a:ext>
              </a:extLst>
            </p:cNvPr>
            <p:cNvSpPr/>
            <p:nvPr/>
          </p:nvSpPr>
          <p:spPr>
            <a:xfrm>
              <a:off x="486138" y="1322655"/>
              <a:ext cx="1724627" cy="1909823"/>
            </a:xfrm>
            <a:prstGeom prst="roundRect">
              <a:avLst/>
            </a:prstGeom>
            <a:noFill/>
            <a:ln w="38100">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088BCF29-E295-F8AD-3BFD-BAB24B3FD99D}"/>
                </a:ext>
              </a:extLst>
            </p:cNvPr>
            <p:cNvSpPr/>
            <p:nvPr/>
          </p:nvSpPr>
          <p:spPr>
            <a:xfrm>
              <a:off x="931763" y="891249"/>
              <a:ext cx="833376" cy="810228"/>
            </a:xfrm>
            <a:prstGeom prst="ellipse">
              <a:avLst/>
            </a:prstGeom>
            <a:solidFill>
              <a:srgbClr val="EE4B7A"/>
            </a:solidFill>
            <a:ln>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a:extLst>
              <a:ext uri="{FF2B5EF4-FFF2-40B4-BE49-F238E27FC236}">
                <a16:creationId xmlns:a16="http://schemas.microsoft.com/office/drawing/2014/main" id="{12D428F8-1392-4EB8-ABDE-2D746FF0C229}"/>
              </a:ext>
            </a:extLst>
          </p:cNvPr>
          <p:cNvGrpSpPr/>
          <p:nvPr/>
        </p:nvGrpSpPr>
        <p:grpSpPr>
          <a:xfrm>
            <a:off x="8522769" y="3815772"/>
            <a:ext cx="1859722" cy="2515580"/>
            <a:chOff x="486138" y="891249"/>
            <a:chExt cx="1724627" cy="2341229"/>
          </a:xfrm>
        </p:grpSpPr>
        <p:sp>
          <p:nvSpPr>
            <p:cNvPr id="29" name="Rectangle: Rounded Corners 28">
              <a:extLst>
                <a:ext uri="{FF2B5EF4-FFF2-40B4-BE49-F238E27FC236}">
                  <a16:creationId xmlns:a16="http://schemas.microsoft.com/office/drawing/2014/main" id="{30495083-7F66-4A7F-38A7-98CF4FA9D54B}"/>
                </a:ext>
              </a:extLst>
            </p:cNvPr>
            <p:cNvSpPr/>
            <p:nvPr/>
          </p:nvSpPr>
          <p:spPr>
            <a:xfrm>
              <a:off x="486138" y="1322655"/>
              <a:ext cx="1724627" cy="1909823"/>
            </a:xfrm>
            <a:prstGeom prst="roundRect">
              <a:avLst/>
            </a:prstGeom>
            <a:noFill/>
            <a:ln w="38100">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89DD8F0E-D197-DE69-2943-1E0644DB113D}"/>
                </a:ext>
              </a:extLst>
            </p:cNvPr>
            <p:cNvSpPr/>
            <p:nvPr/>
          </p:nvSpPr>
          <p:spPr>
            <a:xfrm>
              <a:off x="931763" y="891249"/>
              <a:ext cx="833376" cy="810228"/>
            </a:xfrm>
            <a:prstGeom prst="ellipse">
              <a:avLst/>
            </a:prstGeom>
            <a:solidFill>
              <a:srgbClr val="EE4B7A"/>
            </a:solidFill>
            <a:ln>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3" name="Rectangle 42">
            <a:extLst>
              <a:ext uri="{FF2B5EF4-FFF2-40B4-BE49-F238E27FC236}">
                <a16:creationId xmlns:a16="http://schemas.microsoft.com/office/drawing/2014/main" id="{F1D9C8EF-DD63-16C0-075E-8CAE1F3C48D1}"/>
              </a:ext>
            </a:extLst>
          </p:cNvPr>
          <p:cNvSpPr/>
          <p:nvPr/>
        </p:nvSpPr>
        <p:spPr>
          <a:xfrm>
            <a:off x="1505409" y="2046375"/>
            <a:ext cx="1580531" cy="1323439"/>
          </a:xfrm>
          <a:prstGeom prst="rect">
            <a:avLst/>
          </a:prstGeom>
          <a:noFill/>
        </p:spPr>
        <p:txBody>
          <a:bodyPr wrap="square" lIns="91440" tIns="45720" rIns="91440" bIns="45720">
            <a:spAutoFit/>
          </a:bodyPr>
          <a:lstStyle/>
          <a:p>
            <a:pPr algn="ctr"/>
            <a:r>
              <a:rPr lang="en-GB" sz="1600" dirty="0">
                <a:latin typeface="Aharoni" panose="02010803020104030203" pitchFamily="2" charset="-79"/>
                <a:cs typeface="Aharoni" panose="02010803020104030203" pitchFamily="2" charset="-79"/>
              </a:rPr>
              <a:t>Review and analyse the current approaches in banking fraud</a:t>
            </a:r>
            <a:endParaRPr lang="en-US" sz="1600" cap="none" spc="0" dirty="0">
              <a:ln w="0"/>
              <a:solidFill>
                <a:schemeClr val="tx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44" name="Rectangle 43">
            <a:extLst>
              <a:ext uri="{FF2B5EF4-FFF2-40B4-BE49-F238E27FC236}">
                <a16:creationId xmlns:a16="http://schemas.microsoft.com/office/drawing/2014/main" id="{E4578997-89FA-068A-1EF0-98D8FFFFE6B1}"/>
              </a:ext>
            </a:extLst>
          </p:cNvPr>
          <p:cNvSpPr/>
          <p:nvPr/>
        </p:nvSpPr>
        <p:spPr>
          <a:xfrm>
            <a:off x="3891059" y="2046375"/>
            <a:ext cx="1580531" cy="1323439"/>
          </a:xfrm>
          <a:prstGeom prst="rect">
            <a:avLst/>
          </a:prstGeom>
          <a:noFill/>
        </p:spPr>
        <p:txBody>
          <a:bodyPr wrap="square" lIns="91440" tIns="45720" rIns="91440" bIns="45720">
            <a:spAutoFit/>
          </a:bodyPr>
          <a:lstStyle/>
          <a:p>
            <a:pPr algn="ctr"/>
            <a:r>
              <a:rPr lang="en-GB" sz="1600" dirty="0">
                <a:latin typeface="Aharoni" panose="02010803020104030203" pitchFamily="2" charset="-79"/>
                <a:cs typeface="Aharoni" panose="02010803020104030203" pitchFamily="2" charset="-79"/>
              </a:rPr>
              <a:t>Collect and compile a high-quality dataset of bank accounts</a:t>
            </a:r>
            <a:endParaRPr lang="en-US" sz="1600" cap="none" spc="0" dirty="0">
              <a:ln w="0"/>
              <a:solidFill>
                <a:schemeClr val="tx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45" name="Rectangle 44">
            <a:extLst>
              <a:ext uri="{FF2B5EF4-FFF2-40B4-BE49-F238E27FC236}">
                <a16:creationId xmlns:a16="http://schemas.microsoft.com/office/drawing/2014/main" id="{570FC281-2B7B-C1F1-BE56-AD5D91EA44E9}"/>
              </a:ext>
            </a:extLst>
          </p:cNvPr>
          <p:cNvSpPr/>
          <p:nvPr/>
        </p:nvSpPr>
        <p:spPr>
          <a:xfrm>
            <a:off x="6264153" y="1923264"/>
            <a:ext cx="1605648" cy="1569660"/>
          </a:xfrm>
          <a:prstGeom prst="rect">
            <a:avLst/>
          </a:prstGeom>
          <a:noFill/>
        </p:spPr>
        <p:txBody>
          <a:bodyPr wrap="square" lIns="91440" tIns="45720" rIns="91440" bIns="45720">
            <a:spAutoFit/>
          </a:bodyPr>
          <a:lstStyle/>
          <a:p>
            <a:pPr algn="ctr"/>
            <a:r>
              <a:rPr lang="en-US" sz="1600" cap="none" spc="0" dirty="0">
                <a:ln w="0"/>
                <a:solidFill>
                  <a:schemeClr val="tx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Detect Fraud and compare accuracy among different models</a:t>
            </a:r>
          </a:p>
        </p:txBody>
      </p:sp>
      <p:sp>
        <p:nvSpPr>
          <p:cNvPr id="46" name="Rectangle 45">
            <a:extLst>
              <a:ext uri="{FF2B5EF4-FFF2-40B4-BE49-F238E27FC236}">
                <a16:creationId xmlns:a16="http://schemas.microsoft.com/office/drawing/2014/main" id="{CDD200F8-78FF-0169-3B9F-C12E0AABFE57}"/>
              </a:ext>
            </a:extLst>
          </p:cNvPr>
          <p:cNvSpPr/>
          <p:nvPr/>
        </p:nvSpPr>
        <p:spPr>
          <a:xfrm>
            <a:off x="8649805" y="2046374"/>
            <a:ext cx="1605648" cy="1323439"/>
          </a:xfrm>
          <a:prstGeom prst="rect">
            <a:avLst/>
          </a:prstGeom>
          <a:noFill/>
        </p:spPr>
        <p:txBody>
          <a:bodyPr wrap="square" lIns="91440" tIns="45720" rIns="91440" bIns="45720">
            <a:spAutoFit/>
          </a:bodyPr>
          <a:lstStyle/>
          <a:p>
            <a:pPr algn="ctr"/>
            <a:r>
              <a:rPr lang="en-GB" sz="1600" dirty="0">
                <a:latin typeface="Aharoni" panose="02010803020104030203" pitchFamily="2" charset="-79"/>
                <a:cs typeface="Aharoni" panose="02010803020104030203" pitchFamily="2" charset="-79"/>
              </a:rPr>
              <a:t>to find hidden patterns and identify suspicious behaviours</a:t>
            </a:r>
            <a:endParaRPr lang="en-US" sz="1600" cap="none" spc="0" dirty="0">
              <a:ln w="0"/>
              <a:solidFill>
                <a:schemeClr val="tx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48" name="Rectangle 47">
            <a:extLst>
              <a:ext uri="{FF2B5EF4-FFF2-40B4-BE49-F238E27FC236}">
                <a16:creationId xmlns:a16="http://schemas.microsoft.com/office/drawing/2014/main" id="{E06BDB50-B30A-C35B-05E5-2DF23629F342}"/>
              </a:ext>
            </a:extLst>
          </p:cNvPr>
          <p:cNvSpPr/>
          <p:nvPr/>
        </p:nvSpPr>
        <p:spPr>
          <a:xfrm>
            <a:off x="1365811" y="4942798"/>
            <a:ext cx="1859721" cy="1169551"/>
          </a:xfrm>
          <a:prstGeom prst="rect">
            <a:avLst/>
          </a:prstGeom>
          <a:noFill/>
        </p:spPr>
        <p:txBody>
          <a:bodyPr wrap="square" lIns="91440" tIns="45720" rIns="91440" bIns="45720">
            <a:spAutoFit/>
          </a:bodyPr>
          <a:lstStyle/>
          <a:p>
            <a:pPr algn="ctr"/>
            <a:r>
              <a:rPr lang="en-GB" sz="1400" dirty="0">
                <a:latin typeface="Aharoni" panose="02010803020104030203" pitchFamily="2" charset="-79"/>
                <a:cs typeface="Aharoni" panose="02010803020104030203" pitchFamily="2" charset="-79"/>
              </a:rPr>
              <a:t>Find out detection accuracy, precision, recall, false positive rates and false negative. </a:t>
            </a:r>
            <a:endParaRPr lang="en-US" sz="1400" cap="none" spc="0" dirty="0">
              <a:ln w="0"/>
              <a:solidFill>
                <a:schemeClr val="tx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50" name="Rectangle 49">
            <a:extLst>
              <a:ext uri="{FF2B5EF4-FFF2-40B4-BE49-F238E27FC236}">
                <a16:creationId xmlns:a16="http://schemas.microsoft.com/office/drawing/2014/main" id="{166F6BE0-264F-E7E2-85C1-7F6060DA2CD0}"/>
              </a:ext>
            </a:extLst>
          </p:cNvPr>
          <p:cNvSpPr/>
          <p:nvPr/>
        </p:nvSpPr>
        <p:spPr>
          <a:xfrm>
            <a:off x="6137116" y="4890695"/>
            <a:ext cx="1859721" cy="1323439"/>
          </a:xfrm>
          <a:prstGeom prst="rect">
            <a:avLst/>
          </a:prstGeom>
          <a:noFill/>
        </p:spPr>
        <p:txBody>
          <a:bodyPr wrap="square" lIns="91440" tIns="45720" rIns="91440" bIns="45720">
            <a:spAutoFit/>
          </a:bodyPr>
          <a:lstStyle/>
          <a:p>
            <a:pPr algn="ctr"/>
            <a:r>
              <a:rPr lang="en-GB" sz="1600" dirty="0">
                <a:latin typeface="Aharoni" panose="02010803020104030203" pitchFamily="2" charset="-79"/>
                <a:cs typeface="Aharoni" panose="02010803020104030203" pitchFamily="2" charset="-79"/>
              </a:rPr>
              <a:t>Extract meaningful insights and create visualization</a:t>
            </a:r>
            <a:endParaRPr lang="en-US" sz="1600" cap="none" spc="0" dirty="0">
              <a:ln w="0"/>
              <a:solidFill>
                <a:schemeClr val="tx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51" name="Rectangle 50">
            <a:extLst>
              <a:ext uri="{FF2B5EF4-FFF2-40B4-BE49-F238E27FC236}">
                <a16:creationId xmlns:a16="http://schemas.microsoft.com/office/drawing/2014/main" id="{670F9386-20CE-D1B6-F87D-A7C547BFDA0F}"/>
              </a:ext>
            </a:extLst>
          </p:cNvPr>
          <p:cNvSpPr/>
          <p:nvPr/>
        </p:nvSpPr>
        <p:spPr>
          <a:xfrm>
            <a:off x="8522770" y="4820195"/>
            <a:ext cx="1859721" cy="1323439"/>
          </a:xfrm>
          <a:prstGeom prst="rect">
            <a:avLst/>
          </a:prstGeom>
          <a:noFill/>
        </p:spPr>
        <p:txBody>
          <a:bodyPr wrap="square" lIns="91440" tIns="45720" rIns="91440" bIns="45720">
            <a:spAutoFit/>
          </a:bodyPr>
          <a:lstStyle/>
          <a:p>
            <a:pPr algn="ctr"/>
            <a:r>
              <a:rPr lang="en-GB" sz="1600" dirty="0">
                <a:latin typeface="Aharoni" panose="02010803020104030203" pitchFamily="2" charset="-79"/>
                <a:cs typeface="Aharoni" panose="02010803020104030203" pitchFamily="2" charset="-79"/>
              </a:rPr>
              <a:t>summarize the findings, highlight the novel contributions</a:t>
            </a:r>
            <a:endParaRPr lang="en-US" sz="1600" cap="none" spc="0" dirty="0">
              <a:ln w="0"/>
              <a:solidFill>
                <a:schemeClr val="tx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52" name="Rectangle 51">
            <a:extLst>
              <a:ext uri="{FF2B5EF4-FFF2-40B4-BE49-F238E27FC236}">
                <a16:creationId xmlns:a16="http://schemas.microsoft.com/office/drawing/2014/main" id="{2039777A-4BC6-982F-91DD-004B6FEA7E8E}"/>
              </a:ext>
            </a:extLst>
          </p:cNvPr>
          <p:cNvSpPr/>
          <p:nvPr/>
        </p:nvSpPr>
        <p:spPr>
          <a:xfrm>
            <a:off x="3721461" y="4835075"/>
            <a:ext cx="1859721" cy="1384995"/>
          </a:xfrm>
          <a:prstGeom prst="rect">
            <a:avLst/>
          </a:prstGeom>
          <a:noFill/>
        </p:spPr>
        <p:txBody>
          <a:bodyPr wrap="square" lIns="91440" tIns="45720" rIns="91440" bIns="45720">
            <a:spAutoFit/>
          </a:bodyPr>
          <a:lstStyle/>
          <a:p>
            <a:pPr algn="ctr"/>
            <a:r>
              <a:rPr lang="en-GB" sz="1400" dirty="0">
                <a:latin typeface="Aharoni" panose="02010803020104030203" pitchFamily="2" charset="-79"/>
                <a:cs typeface="Aharoni" panose="02010803020104030203" pitchFamily="2" charset="-79"/>
              </a:rPr>
              <a:t>Examine the dataset for developing fraud trends and modify the models accordingly</a:t>
            </a:r>
            <a:endParaRPr lang="en-US" sz="1400" cap="none" spc="0" dirty="0">
              <a:ln w="0"/>
              <a:solidFill>
                <a:schemeClr val="tx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53" name="Rectangle 52">
            <a:extLst>
              <a:ext uri="{FF2B5EF4-FFF2-40B4-BE49-F238E27FC236}">
                <a16:creationId xmlns:a16="http://schemas.microsoft.com/office/drawing/2014/main" id="{81E7577A-A791-A6DB-E7C3-14E4656CE4E4}"/>
              </a:ext>
            </a:extLst>
          </p:cNvPr>
          <p:cNvSpPr/>
          <p:nvPr/>
        </p:nvSpPr>
        <p:spPr>
          <a:xfrm>
            <a:off x="2054240" y="969787"/>
            <a:ext cx="471604" cy="923330"/>
          </a:xfrm>
          <a:prstGeom prst="rect">
            <a:avLst/>
          </a:prstGeom>
          <a:noFill/>
        </p:spPr>
        <p:txBody>
          <a:bodyPr wrap="none" lIns="91440" tIns="45720" rIns="91440" bIns="45720">
            <a:spAutoFit/>
          </a:bodyPr>
          <a:lstStyle/>
          <a:p>
            <a:pPr algn="ctr"/>
            <a:r>
              <a:rPr lang="en-US" sz="5400" b="1"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1</a:t>
            </a:r>
            <a:endParaRPr lang="en-US" sz="5400" b="1"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54" name="Rectangle 53">
            <a:extLst>
              <a:ext uri="{FF2B5EF4-FFF2-40B4-BE49-F238E27FC236}">
                <a16:creationId xmlns:a16="http://schemas.microsoft.com/office/drawing/2014/main" id="{3E2C0DFA-F68B-A3F3-3E1D-9288F29DCC98}"/>
              </a:ext>
            </a:extLst>
          </p:cNvPr>
          <p:cNvSpPr/>
          <p:nvPr/>
        </p:nvSpPr>
        <p:spPr>
          <a:xfrm>
            <a:off x="4440022" y="995164"/>
            <a:ext cx="471604" cy="923330"/>
          </a:xfrm>
          <a:prstGeom prst="rect">
            <a:avLst/>
          </a:prstGeom>
          <a:noFill/>
        </p:spPr>
        <p:txBody>
          <a:bodyPr wrap="none" lIns="91440" tIns="45720" rIns="91440" bIns="45720">
            <a:spAutoFit/>
          </a:bodyPr>
          <a:lstStyle/>
          <a:p>
            <a:pPr algn="ctr"/>
            <a:r>
              <a:rPr lang="en-US" sz="5400" b="1"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2</a:t>
            </a:r>
          </a:p>
        </p:txBody>
      </p:sp>
      <p:sp>
        <p:nvSpPr>
          <p:cNvPr id="55" name="Rectangle 54">
            <a:extLst>
              <a:ext uri="{FF2B5EF4-FFF2-40B4-BE49-F238E27FC236}">
                <a16:creationId xmlns:a16="http://schemas.microsoft.com/office/drawing/2014/main" id="{0C13BE16-A4E4-D13D-9F6F-5FB38EAA0FA4}"/>
              </a:ext>
            </a:extLst>
          </p:cNvPr>
          <p:cNvSpPr/>
          <p:nvPr/>
        </p:nvSpPr>
        <p:spPr>
          <a:xfrm>
            <a:off x="6831176" y="969787"/>
            <a:ext cx="471604" cy="923330"/>
          </a:xfrm>
          <a:prstGeom prst="rect">
            <a:avLst/>
          </a:prstGeom>
          <a:noFill/>
        </p:spPr>
        <p:txBody>
          <a:bodyPr wrap="none" lIns="91440" tIns="45720" rIns="91440" bIns="45720">
            <a:spAutoFit/>
          </a:bodyPr>
          <a:lstStyle/>
          <a:p>
            <a:pPr algn="ctr"/>
            <a:r>
              <a:rPr lang="en-US" sz="5400" b="1"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3</a:t>
            </a:r>
          </a:p>
        </p:txBody>
      </p:sp>
      <p:sp>
        <p:nvSpPr>
          <p:cNvPr id="56" name="Rectangle 55">
            <a:extLst>
              <a:ext uri="{FF2B5EF4-FFF2-40B4-BE49-F238E27FC236}">
                <a16:creationId xmlns:a16="http://schemas.microsoft.com/office/drawing/2014/main" id="{AFA24868-75F5-68A2-0A6E-F5606A576A66}"/>
              </a:ext>
            </a:extLst>
          </p:cNvPr>
          <p:cNvSpPr/>
          <p:nvPr/>
        </p:nvSpPr>
        <p:spPr>
          <a:xfrm>
            <a:off x="9216827" y="984500"/>
            <a:ext cx="471604" cy="923330"/>
          </a:xfrm>
          <a:prstGeom prst="rect">
            <a:avLst/>
          </a:prstGeom>
          <a:noFill/>
        </p:spPr>
        <p:txBody>
          <a:bodyPr wrap="none" lIns="91440" tIns="45720" rIns="91440" bIns="45720">
            <a:spAutoFit/>
          </a:bodyPr>
          <a:lstStyle/>
          <a:p>
            <a:pPr algn="ctr"/>
            <a:r>
              <a:rPr lang="en-US" sz="5400" b="1"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4</a:t>
            </a:r>
          </a:p>
        </p:txBody>
      </p:sp>
      <p:sp>
        <p:nvSpPr>
          <p:cNvPr id="57" name="Rectangle 56">
            <a:extLst>
              <a:ext uri="{FF2B5EF4-FFF2-40B4-BE49-F238E27FC236}">
                <a16:creationId xmlns:a16="http://schemas.microsoft.com/office/drawing/2014/main" id="{2CA05171-CE58-D4B9-4BA1-0C2B50FC23E6}"/>
              </a:ext>
            </a:extLst>
          </p:cNvPr>
          <p:cNvSpPr/>
          <p:nvPr/>
        </p:nvSpPr>
        <p:spPr>
          <a:xfrm>
            <a:off x="2048674" y="3801133"/>
            <a:ext cx="471604" cy="923330"/>
          </a:xfrm>
          <a:prstGeom prst="rect">
            <a:avLst/>
          </a:prstGeom>
          <a:noFill/>
        </p:spPr>
        <p:txBody>
          <a:bodyPr wrap="none" lIns="91440" tIns="45720" rIns="91440" bIns="45720">
            <a:spAutoFit/>
          </a:bodyPr>
          <a:lstStyle/>
          <a:p>
            <a:pPr algn="ctr"/>
            <a:r>
              <a:rPr lang="en-US" sz="5400" b="1"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5</a:t>
            </a:r>
          </a:p>
        </p:txBody>
      </p:sp>
      <p:sp>
        <p:nvSpPr>
          <p:cNvPr id="58" name="Rectangle 57">
            <a:extLst>
              <a:ext uri="{FF2B5EF4-FFF2-40B4-BE49-F238E27FC236}">
                <a16:creationId xmlns:a16="http://schemas.microsoft.com/office/drawing/2014/main" id="{3F9A1102-BDA6-FD5D-6A95-6CCB3A43A304}"/>
              </a:ext>
            </a:extLst>
          </p:cNvPr>
          <p:cNvSpPr/>
          <p:nvPr/>
        </p:nvSpPr>
        <p:spPr>
          <a:xfrm>
            <a:off x="4414324" y="3802198"/>
            <a:ext cx="471604" cy="923330"/>
          </a:xfrm>
          <a:prstGeom prst="rect">
            <a:avLst/>
          </a:prstGeom>
          <a:noFill/>
        </p:spPr>
        <p:txBody>
          <a:bodyPr wrap="none" lIns="91440" tIns="45720" rIns="91440" bIns="45720">
            <a:spAutoFit/>
          </a:bodyPr>
          <a:lstStyle/>
          <a:p>
            <a:pPr algn="ctr"/>
            <a:r>
              <a:rPr lang="en-US" sz="5400" b="1"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6</a:t>
            </a:r>
          </a:p>
        </p:txBody>
      </p:sp>
      <p:sp>
        <p:nvSpPr>
          <p:cNvPr id="59" name="Rectangle 58">
            <a:extLst>
              <a:ext uri="{FF2B5EF4-FFF2-40B4-BE49-F238E27FC236}">
                <a16:creationId xmlns:a16="http://schemas.microsoft.com/office/drawing/2014/main" id="{6B56E6BB-0123-7273-AEC1-F44A68FBBE4D}"/>
              </a:ext>
            </a:extLst>
          </p:cNvPr>
          <p:cNvSpPr/>
          <p:nvPr/>
        </p:nvSpPr>
        <p:spPr>
          <a:xfrm>
            <a:off x="6825010" y="3796227"/>
            <a:ext cx="471604" cy="923330"/>
          </a:xfrm>
          <a:prstGeom prst="rect">
            <a:avLst/>
          </a:prstGeom>
          <a:noFill/>
        </p:spPr>
        <p:txBody>
          <a:bodyPr wrap="none" lIns="91440" tIns="45720" rIns="91440" bIns="45720">
            <a:spAutoFit/>
          </a:bodyPr>
          <a:lstStyle/>
          <a:p>
            <a:pPr algn="ctr"/>
            <a:r>
              <a:rPr lang="en-US" sz="5400" b="1"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7</a:t>
            </a:r>
          </a:p>
        </p:txBody>
      </p:sp>
      <p:sp>
        <p:nvSpPr>
          <p:cNvPr id="60" name="Rectangle 59">
            <a:extLst>
              <a:ext uri="{FF2B5EF4-FFF2-40B4-BE49-F238E27FC236}">
                <a16:creationId xmlns:a16="http://schemas.microsoft.com/office/drawing/2014/main" id="{0D28C580-60EB-A840-C860-2D3E1EB86C13}"/>
              </a:ext>
            </a:extLst>
          </p:cNvPr>
          <p:cNvSpPr/>
          <p:nvPr/>
        </p:nvSpPr>
        <p:spPr>
          <a:xfrm>
            <a:off x="9235696" y="3750381"/>
            <a:ext cx="471604" cy="923330"/>
          </a:xfrm>
          <a:prstGeom prst="rect">
            <a:avLst/>
          </a:prstGeom>
          <a:noFill/>
        </p:spPr>
        <p:txBody>
          <a:bodyPr wrap="none" lIns="91440" tIns="45720" rIns="91440" bIns="45720">
            <a:spAutoFit/>
          </a:bodyPr>
          <a:lstStyle/>
          <a:p>
            <a:pPr algn="ctr"/>
            <a:r>
              <a:rPr lang="en-US" sz="5400" b="1"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8</a:t>
            </a:r>
          </a:p>
        </p:txBody>
      </p:sp>
      <p:sp>
        <p:nvSpPr>
          <p:cNvPr id="61" name="Rectangle 60">
            <a:extLst>
              <a:ext uri="{FF2B5EF4-FFF2-40B4-BE49-F238E27FC236}">
                <a16:creationId xmlns:a16="http://schemas.microsoft.com/office/drawing/2014/main" id="{58761D13-D795-1B0B-5D67-93B3D7271267}"/>
              </a:ext>
            </a:extLst>
          </p:cNvPr>
          <p:cNvSpPr/>
          <p:nvPr/>
        </p:nvSpPr>
        <p:spPr>
          <a:xfrm>
            <a:off x="11253962" y="6555242"/>
            <a:ext cx="857927" cy="369332"/>
          </a:xfrm>
          <a:prstGeom prst="rect">
            <a:avLst/>
          </a:prstGeom>
          <a:noFill/>
        </p:spPr>
        <p:txBody>
          <a:bodyPr wrap="none" lIns="91440" tIns="45720" rIns="91440" bIns="45720">
            <a:spAutoFit/>
          </a:bodyPr>
          <a:lstStyle/>
          <a:p>
            <a:pPr algn="ctr"/>
            <a:r>
              <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Page </a:t>
            </a:r>
            <a:r>
              <a:rPr lang="en-US"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03</a:t>
            </a:r>
            <a:endPar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533133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FF18B7-52E0-337C-0E52-95678D965479}"/>
              </a:ext>
            </a:extLst>
          </p:cNvPr>
          <p:cNvSpPr/>
          <p:nvPr/>
        </p:nvSpPr>
        <p:spPr>
          <a:xfrm>
            <a:off x="0" y="-1"/>
            <a:ext cx="12192000" cy="891251"/>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898F8506-C956-09CF-582B-3AF2F8719A77}"/>
              </a:ext>
            </a:extLst>
          </p:cNvPr>
          <p:cNvSpPr/>
          <p:nvPr/>
        </p:nvSpPr>
        <p:spPr>
          <a:xfrm>
            <a:off x="0" y="6624320"/>
            <a:ext cx="12192000" cy="248920"/>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3BF8A241-0DCE-3D51-1F15-53E18E4A02A8}"/>
              </a:ext>
            </a:extLst>
          </p:cNvPr>
          <p:cNvSpPr/>
          <p:nvPr/>
        </p:nvSpPr>
        <p:spPr>
          <a:xfrm>
            <a:off x="-104172" y="-1"/>
            <a:ext cx="1145894" cy="891251"/>
          </a:xfrm>
          <a:prstGeom prst="roundRect">
            <a:avLst/>
          </a:prstGeom>
          <a:solidFill>
            <a:srgbClr val="EE4B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3D07A22-C7CE-ADC4-CD58-3E7BC2935F00}"/>
              </a:ext>
            </a:extLst>
          </p:cNvPr>
          <p:cNvSpPr/>
          <p:nvPr/>
        </p:nvSpPr>
        <p:spPr>
          <a:xfrm>
            <a:off x="3855643" y="91681"/>
            <a:ext cx="4480714" cy="707886"/>
          </a:xfrm>
          <a:prstGeom prst="rect">
            <a:avLst/>
          </a:prstGeom>
          <a:noFill/>
        </p:spPr>
        <p:txBody>
          <a:bodyPr wrap="none" lIns="91440" tIns="45720" rIns="91440" bIns="45720">
            <a:spAutoFit/>
          </a:bodyPr>
          <a:lstStyle/>
          <a:p>
            <a:pPr algn="ctr"/>
            <a:r>
              <a:rPr lang="en-US" sz="4000" b="1"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Literature Review</a:t>
            </a:r>
            <a:endParaRPr lang="en-US" sz="4000" b="1" cap="none" spc="0"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2" name="Rectangle 11">
            <a:extLst>
              <a:ext uri="{FF2B5EF4-FFF2-40B4-BE49-F238E27FC236}">
                <a16:creationId xmlns:a16="http://schemas.microsoft.com/office/drawing/2014/main" id="{F4D31A2A-AFAE-A898-19DB-F312EEFA24DF}"/>
              </a:ext>
            </a:extLst>
          </p:cNvPr>
          <p:cNvSpPr/>
          <p:nvPr/>
        </p:nvSpPr>
        <p:spPr>
          <a:xfrm>
            <a:off x="89504" y="-32080"/>
            <a:ext cx="758541" cy="923330"/>
          </a:xfrm>
          <a:prstGeom prst="rect">
            <a:avLst/>
          </a:prstGeom>
          <a:noFill/>
        </p:spPr>
        <p:txBody>
          <a:bodyPr wrap="none" lIns="91440" tIns="45720" rIns="91440" bIns="45720">
            <a:spAutoFit/>
          </a:bodyPr>
          <a:lstStyle/>
          <a:p>
            <a:pPr algn="ctr"/>
            <a:r>
              <a:rPr lang="en-US" sz="5400" b="1"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04</a:t>
            </a:r>
          </a:p>
        </p:txBody>
      </p:sp>
      <p:sp>
        <p:nvSpPr>
          <p:cNvPr id="32" name="TextBox 31">
            <a:extLst>
              <a:ext uri="{FF2B5EF4-FFF2-40B4-BE49-F238E27FC236}">
                <a16:creationId xmlns:a16="http://schemas.microsoft.com/office/drawing/2014/main" id="{B9B259C1-B3BD-98DF-3D80-AB2947861F45}"/>
              </a:ext>
            </a:extLst>
          </p:cNvPr>
          <p:cNvSpPr txBox="1"/>
          <p:nvPr/>
        </p:nvSpPr>
        <p:spPr>
          <a:xfrm>
            <a:off x="297180" y="1584463"/>
            <a:ext cx="6223000" cy="383888"/>
          </a:xfrm>
          <a:prstGeom prst="rect">
            <a:avLst/>
          </a:prstGeom>
          <a:noFill/>
        </p:spPr>
        <p:txBody>
          <a:bodyPr wrap="square">
            <a:spAutoFit/>
          </a:bodyPr>
          <a:lstStyle/>
          <a:p>
            <a:pPr>
              <a:lnSpc>
                <a:spcPct val="107000"/>
              </a:lnSpc>
              <a:spcAft>
                <a:spcPts val="800"/>
              </a:spcAft>
            </a:pPr>
            <a:r>
              <a:rPr lang="en-US" sz="1800" dirty="0">
                <a:effectLst/>
                <a:latin typeface="Aharoni" panose="02010803020104030203" pitchFamily="2" charset="-79"/>
                <a:ea typeface="Calibri" panose="020F0502020204030204" pitchFamily="34" charset="0"/>
                <a:cs typeface="Aharoni" panose="02010803020104030203" pitchFamily="2" charset="-79"/>
              </a:rPr>
              <a:t>Data Analysis for Fraud Detection in Finance:</a:t>
            </a:r>
            <a:endParaRPr lang="en-GB" sz="1800" dirty="0">
              <a:effectLst/>
              <a:latin typeface="Aharoni" panose="02010803020104030203" pitchFamily="2" charset="-79"/>
              <a:ea typeface="Calibri" panose="020F0502020204030204" pitchFamily="34" charset="0"/>
              <a:cs typeface="Aharoni" panose="02010803020104030203" pitchFamily="2" charset="-79"/>
            </a:endParaRPr>
          </a:p>
        </p:txBody>
      </p:sp>
      <p:sp>
        <p:nvSpPr>
          <p:cNvPr id="34" name="TextBox 33">
            <a:extLst>
              <a:ext uri="{FF2B5EF4-FFF2-40B4-BE49-F238E27FC236}">
                <a16:creationId xmlns:a16="http://schemas.microsoft.com/office/drawing/2014/main" id="{29E6695B-D489-5459-6113-0DB553D0CC64}"/>
              </a:ext>
            </a:extLst>
          </p:cNvPr>
          <p:cNvSpPr txBox="1"/>
          <p:nvPr/>
        </p:nvSpPr>
        <p:spPr>
          <a:xfrm>
            <a:off x="297180" y="2216103"/>
            <a:ext cx="5067300" cy="1870127"/>
          </a:xfrm>
          <a:prstGeom prst="rect">
            <a:avLst/>
          </a:prstGeom>
          <a:noFill/>
        </p:spPr>
        <p:txBody>
          <a:bodyPr wrap="square">
            <a:spAutoFit/>
          </a:bodyPr>
          <a:lstStyle/>
          <a:p>
            <a:pPr algn="just">
              <a:lnSpc>
                <a:spcPct val="107000"/>
              </a:lnSpc>
              <a:spcAft>
                <a:spcPts val="800"/>
              </a:spcAft>
            </a:pPr>
            <a:r>
              <a:rPr lang="en-US" sz="1400" dirty="0">
                <a:effectLst/>
                <a:latin typeface="Aharoni" panose="02010803020104030203" pitchFamily="2" charset="-79"/>
                <a:ea typeface="Calibri" panose="020F0502020204030204" pitchFamily="34" charset="0"/>
                <a:cs typeface="Aharoni" panose="02010803020104030203" pitchFamily="2" charset="-79"/>
              </a:rPr>
              <a:t>Almutairi et al proposed methodology to give insights and strategies for institutions, notably banks, to preserve user information and secure their systems against fraudsters by presenting a conceptual framework based on a real-world credit card dataset.</a:t>
            </a:r>
            <a:endParaRPr lang="en-GB" sz="1400" dirty="0">
              <a:effectLst/>
              <a:latin typeface="Aharoni" panose="02010803020104030203" pitchFamily="2" charset="-79"/>
              <a:ea typeface="Calibri" panose="020F0502020204030204" pitchFamily="34" charset="0"/>
              <a:cs typeface="Aharoni" panose="02010803020104030203" pitchFamily="2" charset="-79"/>
            </a:endParaRPr>
          </a:p>
          <a:p>
            <a:pPr algn="just">
              <a:lnSpc>
                <a:spcPct val="107000"/>
              </a:lnSpc>
              <a:spcAft>
                <a:spcPts val="800"/>
              </a:spcAft>
            </a:pPr>
            <a:r>
              <a:rPr lang="en-US" sz="1600" dirty="0">
                <a:effectLst/>
                <a:latin typeface="Aharoni" panose="02010803020104030203" pitchFamily="2" charset="-79"/>
                <a:ea typeface="Calibri" panose="020F0502020204030204" pitchFamily="34" charset="0"/>
                <a:cs typeface="Aharoni" panose="02010803020104030203" pitchFamily="2" charset="-79"/>
              </a:rPr>
              <a:t>Their results are: </a:t>
            </a:r>
            <a:r>
              <a:rPr lang="en-US" sz="1400" dirty="0">
                <a:solidFill>
                  <a:srgbClr val="000000"/>
                </a:solidFill>
                <a:effectLst/>
                <a:latin typeface="Aharoni" panose="02010803020104030203" pitchFamily="2" charset="-79"/>
                <a:ea typeface="Calibri" panose="020F0502020204030204" pitchFamily="34" charset="0"/>
                <a:cs typeface="Aharoni" panose="02010803020104030203" pitchFamily="2" charset="-79"/>
              </a:rPr>
              <a:t>K-Nearest Neighbor (KNN) 96.7%</a:t>
            </a:r>
            <a:r>
              <a:rPr lang="en-US" sz="1600" dirty="0">
                <a:solidFill>
                  <a:srgbClr val="000000"/>
                </a:solidFill>
                <a:effectLst/>
                <a:latin typeface="Aharoni" panose="02010803020104030203" pitchFamily="2" charset="-79"/>
                <a:ea typeface="Calibri" panose="020F0502020204030204" pitchFamily="34" charset="0"/>
                <a:cs typeface="Aharoni" panose="02010803020104030203" pitchFamily="2" charset="-79"/>
              </a:rPr>
              <a:t>, </a:t>
            </a:r>
            <a:r>
              <a:rPr lang="en-US" sz="1400" dirty="0">
                <a:solidFill>
                  <a:srgbClr val="000000"/>
                </a:solidFill>
                <a:effectLst/>
                <a:latin typeface="Aharoni" panose="02010803020104030203" pitchFamily="2" charset="-79"/>
                <a:ea typeface="Calibri" panose="020F0502020204030204" pitchFamily="34" charset="0"/>
                <a:cs typeface="Aharoni" panose="02010803020104030203" pitchFamily="2" charset="-79"/>
              </a:rPr>
              <a:t>Random Forest 94%</a:t>
            </a:r>
            <a:r>
              <a:rPr lang="en-US" sz="1600" dirty="0">
                <a:solidFill>
                  <a:srgbClr val="000000"/>
                </a:solidFill>
                <a:effectLst/>
                <a:latin typeface="Aharoni" panose="02010803020104030203" pitchFamily="2" charset="-79"/>
                <a:ea typeface="Calibri" panose="020F0502020204030204" pitchFamily="34" charset="0"/>
                <a:cs typeface="Aharoni" panose="02010803020104030203" pitchFamily="2" charset="-79"/>
              </a:rPr>
              <a:t>, and </a:t>
            </a:r>
            <a:r>
              <a:rPr lang="en-US" sz="1400" dirty="0" err="1">
                <a:solidFill>
                  <a:srgbClr val="000000"/>
                </a:solidFill>
                <a:effectLst/>
                <a:latin typeface="Aharoni" panose="02010803020104030203" pitchFamily="2" charset="-79"/>
                <a:ea typeface="Calibri" panose="020F0502020204030204" pitchFamily="34" charset="0"/>
                <a:cs typeface="Aharoni" panose="02010803020104030203" pitchFamily="2" charset="-79"/>
              </a:rPr>
              <a:t>XGBoost</a:t>
            </a:r>
            <a:r>
              <a:rPr lang="en-US" sz="1400" dirty="0">
                <a:solidFill>
                  <a:srgbClr val="000000"/>
                </a:solidFill>
                <a:effectLst/>
                <a:latin typeface="Aharoni" panose="02010803020104030203" pitchFamily="2" charset="-79"/>
                <a:ea typeface="Calibri" panose="020F0502020204030204" pitchFamily="34" charset="0"/>
                <a:cs typeface="Aharoni" panose="02010803020104030203" pitchFamily="2" charset="-79"/>
              </a:rPr>
              <a:t> 92%.</a:t>
            </a:r>
            <a:endParaRPr lang="en-GB" sz="1600" dirty="0">
              <a:effectLst/>
              <a:latin typeface="Aharoni" panose="02010803020104030203" pitchFamily="2" charset="-79"/>
              <a:ea typeface="Calibri" panose="020F0502020204030204" pitchFamily="34" charset="0"/>
              <a:cs typeface="Aharoni" panose="02010803020104030203" pitchFamily="2" charset="-79"/>
            </a:endParaRPr>
          </a:p>
        </p:txBody>
      </p:sp>
      <p:pic>
        <p:nvPicPr>
          <p:cNvPr id="35" name="Picture 34">
            <a:extLst>
              <a:ext uri="{FF2B5EF4-FFF2-40B4-BE49-F238E27FC236}">
                <a16:creationId xmlns:a16="http://schemas.microsoft.com/office/drawing/2014/main" id="{75D85330-1356-1955-89C3-E553FEA4989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1520" y="1955896"/>
            <a:ext cx="2808605" cy="3074981"/>
          </a:xfrm>
          <a:prstGeom prst="rect">
            <a:avLst/>
          </a:prstGeom>
          <a:noFill/>
          <a:ln>
            <a:noFill/>
          </a:ln>
        </p:spPr>
      </p:pic>
      <p:pic>
        <p:nvPicPr>
          <p:cNvPr id="36" name="Picture 35">
            <a:extLst>
              <a:ext uri="{FF2B5EF4-FFF2-40B4-BE49-F238E27FC236}">
                <a16:creationId xmlns:a16="http://schemas.microsoft.com/office/drawing/2014/main" id="{2B90779B-51B2-359B-5DCE-3B5B35DC185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81836" y="1968351"/>
            <a:ext cx="2969474" cy="3220623"/>
          </a:xfrm>
          <a:prstGeom prst="rect">
            <a:avLst/>
          </a:prstGeom>
          <a:noFill/>
          <a:ln>
            <a:noFill/>
          </a:ln>
        </p:spPr>
      </p:pic>
      <p:sp>
        <p:nvSpPr>
          <p:cNvPr id="38" name="TextBox 37">
            <a:extLst>
              <a:ext uri="{FF2B5EF4-FFF2-40B4-BE49-F238E27FC236}">
                <a16:creationId xmlns:a16="http://schemas.microsoft.com/office/drawing/2014/main" id="{EE6409D0-1BDE-676E-BC24-198E75B04B89}"/>
              </a:ext>
            </a:extLst>
          </p:cNvPr>
          <p:cNvSpPr txBox="1"/>
          <p:nvPr/>
        </p:nvSpPr>
        <p:spPr>
          <a:xfrm>
            <a:off x="297180" y="4310701"/>
            <a:ext cx="5067300" cy="1010661"/>
          </a:xfrm>
          <a:prstGeom prst="rect">
            <a:avLst/>
          </a:prstGeom>
          <a:noFill/>
        </p:spPr>
        <p:txBody>
          <a:bodyPr wrap="square">
            <a:spAutoFit/>
          </a:bodyPr>
          <a:lstStyle/>
          <a:p>
            <a:pPr algn="just">
              <a:lnSpc>
                <a:spcPct val="107000"/>
              </a:lnSpc>
              <a:spcAft>
                <a:spcPts val="800"/>
              </a:spcAft>
            </a:pPr>
            <a:r>
              <a:rPr lang="en-US" sz="1400" dirty="0">
                <a:effectLst/>
                <a:latin typeface="Aharoni" panose="02010803020104030203" pitchFamily="2" charset="-79"/>
                <a:ea typeface="Calibri" panose="020F0502020204030204" pitchFamily="34" charset="0"/>
                <a:cs typeface="Aharoni" panose="02010803020104030203" pitchFamily="2" charset="-79"/>
              </a:rPr>
              <a:t>Though their work is efficient but</a:t>
            </a:r>
            <a:r>
              <a:rPr lang="en-US" sz="1400" dirty="0">
                <a:solidFill>
                  <a:srgbClr val="000000"/>
                </a:solidFill>
                <a:effectLst/>
                <a:latin typeface="Aharoni" panose="02010803020104030203" pitchFamily="2" charset="-79"/>
                <a:ea typeface="Calibri" panose="020F0502020204030204" pitchFamily="34" charset="0"/>
                <a:cs typeface="Aharoni" panose="02010803020104030203" pitchFamily="2" charset="-79"/>
              </a:rPr>
              <a:t> there are several potential sources of error including Data quality issues, Sampling bias, Feature selection, Model selection, and hyperparameter tuning etc.</a:t>
            </a:r>
            <a:endParaRPr lang="en-GB" sz="1400" dirty="0">
              <a:effectLst/>
              <a:latin typeface="Aharoni" panose="02010803020104030203" pitchFamily="2" charset="-79"/>
              <a:ea typeface="Calibri" panose="020F0502020204030204" pitchFamily="34" charset="0"/>
              <a:cs typeface="Aharoni" panose="02010803020104030203" pitchFamily="2" charset="-79"/>
            </a:endParaRPr>
          </a:p>
        </p:txBody>
      </p:sp>
      <p:sp>
        <p:nvSpPr>
          <p:cNvPr id="39" name="Rectangle 38">
            <a:extLst>
              <a:ext uri="{FF2B5EF4-FFF2-40B4-BE49-F238E27FC236}">
                <a16:creationId xmlns:a16="http://schemas.microsoft.com/office/drawing/2014/main" id="{B4DBC8D4-BFC1-EE32-103E-0F3D4D910B02}"/>
              </a:ext>
            </a:extLst>
          </p:cNvPr>
          <p:cNvSpPr/>
          <p:nvPr/>
        </p:nvSpPr>
        <p:spPr>
          <a:xfrm>
            <a:off x="11253962" y="6555242"/>
            <a:ext cx="857927" cy="369332"/>
          </a:xfrm>
          <a:prstGeom prst="rect">
            <a:avLst/>
          </a:prstGeom>
          <a:noFill/>
        </p:spPr>
        <p:txBody>
          <a:bodyPr wrap="none" lIns="91440" tIns="45720" rIns="91440" bIns="45720">
            <a:spAutoFit/>
          </a:bodyPr>
          <a:lstStyle/>
          <a:p>
            <a:pPr algn="ctr"/>
            <a:r>
              <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Page </a:t>
            </a:r>
            <a:r>
              <a:rPr lang="en-US"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04</a:t>
            </a:r>
            <a:endPar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739424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FF18B7-52E0-337C-0E52-95678D965479}"/>
              </a:ext>
            </a:extLst>
          </p:cNvPr>
          <p:cNvSpPr/>
          <p:nvPr/>
        </p:nvSpPr>
        <p:spPr>
          <a:xfrm>
            <a:off x="0" y="-1"/>
            <a:ext cx="12192000" cy="891251"/>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898F8506-C956-09CF-582B-3AF2F8719A77}"/>
              </a:ext>
            </a:extLst>
          </p:cNvPr>
          <p:cNvSpPr/>
          <p:nvPr/>
        </p:nvSpPr>
        <p:spPr>
          <a:xfrm>
            <a:off x="0" y="6624320"/>
            <a:ext cx="12192000" cy="248920"/>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3BF8A241-0DCE-3D51-1F15-53E18E4A02A8}"/>
              </a:ext>
            </a:extLst>
          </p:cNvPr>
          <p:cNvSpPr/>
          <p:nvPr/>
        </p:nvSpPr>
        <p:spPr>
          <a:xfrm>
            <a:off x="-104172" y="-1"/>
            <a:ext cx="1145894" cy="891251"/>
          </a:xfrm>
          <a:prstGeom prst="roundRect">
            <a:avLst/>
          </a:prstGeom>
          <a:solidFill>
            <a:srgbClr val="EE4B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3D07A22-C7CE-ADC4-CD58-3E7BC2935F00}"/>
              </a:ext>
            </a:extLst>
          </p:cNvPr>
          <p:cNvSpPr/>
          <p:nvPr/>
        </p:nvSpPr>
        <p:spPr>
          <a:xfrm>
            <a:off x="3855643" y="91681"/>
            <a:ext cx="4480714" cy="707886"/>
          </a:xfrm>
          <a:prstGeom prst="rect">
            <a:avLst/>
          </a:prstGeom>
          <a:noFill/>
        </p:spPr>
        <p:txBody>
          <a:bodyPr wrap="none" lIns="91440" tIns="45720" rIns="91440" bIns="45720">
            <a:spAutoFit/>
          </a:bodyPr>
          <a:lstStyle/>
          <a:p>
            <a:pPr algn="ctr"/>
            <a:r>
              <a:rPr lang="en-US" sz="4000" b="1"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Literature Review</a:t>
            </a:r>
            <a:endParaRPr lang="en-US" sz="4000" b="1" cap="none" spc="0"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2" name="Rectangle 11">
            <a:extLst>
              <a:ext uri="{FF2B5EF4-FFF2-40B4-BE49-F238E27FC236}">
                <a16:creationId xmlns:a16="http://schemas.microsoft.com/office/drawing/2014/main" id="{F4D31A2A-AFAE-A898-19DB-F312EEFA24DF}"/>
              </a:ext>
            </a:extLst>
          </p:cNvPr>
          <p:cNvSpPr/>
          <p:nvPr/>
        </p:nvSpPr>
        <p:spPr>
          <a:xfrm>
            <a:off x="89504" y="-32080"/>
            <a:ext cx="758541" cy="923330"/>
          </a:xfrm>
          <a:prstGeom prst="rect">
            <a:avLst/>
          </a:prstGeom>
          <a:noFill/>
        </p:spPr>
        <p:txBody>
          <a:bodyPr wrap="none" lIns="91440" tIns="45720" rIns="91440" bIns="45720">
            <a:spAutoFit/>
          </a:bodyPr>
          <a:lstStyle/>
          <a:p>
            <a:pPr algn="ctr"/>
            <a:r>
              <a:rPr lang="en-US" sz="5400" b="1"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04</a:t>
            </a:r>
          </a:p>
        </p:txBody>
      </p:sp>
      <p:sp>
        <p:nvSpPr>
          <p:cNvPr id="32" name="TextBox 31">
            <a:extLst>
              <a:ext uri="{FF2B5EF4-FFF2-40B4-BE49-F238E27FC236}">
                <a16:creationId xmlns:a16="http://schemas.microsoft.com/office/drawing/2014/main" id="{B9B259C1-B3BD-98DF-3D80-AB2947861F45}"/>
              </a:ext>
            </a:extLst>
          </p:cNvPr>
          <p:cNvSpPr txBox="1"/>
          <p:nvPr/>
        </p:nvSpPr>
        <p:spPr>
          <a:xfrm>
            <a:off x="297180" y="1433260"/>
            <a:ext cx="8484656" cy="782843"/>
          </a:xfrm>
          <a:prstGeom prst="rect">
            <a:avLst/>
          </a:prstGeom>
          <a:noFill/>
        </p:spPr>
        <p:txBody>
          <a:bodyPr wrap="square">
            <a:spAutoFit/>
          </a:bodyPr>
          <a:lstStyle/>
          <a:p>
            <a:pPr>
              <a:lnSpc>
                <a:spcPct val="107000"/>
              </a:lnSpc>
              <a:spcAft>
                <a:spcPts val="800"/>
              </a:spcAft>
            </a:pPr>
            <a:r>
              <a:rPr lang="en-US" sz="1800" b="1" dirty="0">
                <a:effectLst/>
                <a:latin typeface="Aharoni" panose="02010803020104030203" pitchFamily="2" charset="-79"/>
                <a:ea typeface="Calibri" panose="020F0502020204030204" pitchFamily="34" charset="0"/>
                <a:cs typeface="Aharoni" panose="02010803020104030203" pitchFamily="2" charset="-79"/>
              </a:rPr>
              <a:t>Fraud Detection by Monitoring Customer Behavior and Activities statements:</a:t>
            </a:r>
            <a:endParaRPr lang="en-GB" sz="1800" b="1" dirty="0">
              <a:effectLst/>
              <a:latin typeface="Aharoni" panose="02010803020104030203" pitchFamily="2" charset="-79"/>
              <a:ea typeface="Calibri" panose="020F0502020204030204" pitchFamily="34" charset="0"/>
              <a:cs typeface="Aharoni" panose="02010803020104030203" pitchFamily="2" charset="-79"/>
            </a:endParaRPr>
          </a:p>
          <a:p>
            <a:pPr>
              <a:lnSpc>
                <a:spcPct val="107000"/>
              </a:lnSpc>
              <a:spcAft>
                <a:spcPts val="800"/>
              </a:spcAft>
            </a:pPr>
            <a:endParaRPr lang="en-GB" sz="1800" dirty="0">
              <a:effectLst/>
              <a:latin typeface="Aharoni" panose="02010803020104030203" pitchFamily="2" charset="-79"/>
              <a:ea typeface="Calibri" panose="020F0502020204030204" pitchFamily="34" charset="0"/>
              <a:cs typeface="Aharoni" panose="02010803020104030203" pitchFamily="2" charset="-79"/>
            </a:endParaRPr>
          </a:p>
        </p:txBody>
      </p:sp>
      <p:sp>
        <p:nvSpPr>
          <p:cNvPr id="34" name="TextBox 33">
            <a:extLst>
              <a:ext uri="{FF2B5EF4-FFF2-40B4-BE49-F238E27FC236}">
                <a16:creationId xmlns:a16="http://schemas.microsoft.com/office/drawing/2014/main" id="{29E6695B-D489-5459-6113-0DB553D0CC64}"/>
              </a:ext>
            </a:extLst>
          </p:cNvPr>
          <p:cNvSpPr txBox="1"/>
          <p:nvPr/>
        </p:nvSpPr>
        <p:spPr>
          <a:xfrm>
            <a:off x="308396" y="2089158"/>
            <a:ext cx="5067300" cy="1837170"/>
          </a:xfrm>
          <a:prstGeom prst="rect">
            <a:avLst/>
          </a:prstGeom>
          <a:noFill/>
        </p:spPr>
        <p:txBody>
          <a:bodyPr wrap="square">
            <a:spAutoFit/>
          </a:bodyPr>
          <a:lstStyle/>
          <a:p>
            <a:pPr algn="just">
              <a:lnSpc>
                <a:spcPct val="107000"/>
              </a:lnSpc>
              <a:spcAft>
                <a:spcPts val="800"/>
              </a:spcAft>
            </a:pPr>
            <a:r>
              <a:rPr lang="en-US" sz="1400" dirty="0">
                <a:solidFill>
                  <a:srgbClr val="000000"/>
                </a:solidFill>
                <a:effectLst/>
                <a:latin typeface="Aharoni" panose="02010803020104030203" pitchFamily="2" charset="-79"/>
                <a:ea typeface="Calibri" panose="020F0502020204030204" pitchFamily="34" charset="0"/>
                <a:cs typeface="Aharoni" panose="02010803020104030203" pitchFamily="2" charset="-79"/>
              </a:rPr>
              <a:t>Singh</a:t>
            </a:r>
            <a:r>
              <a:rPr lang="en-US" sz="1400" dirty="0">
                <a:effectLst/>
                <a:latin typeface="Aharoni" panose="02010803020104030203" pitchFamily="2" charset="-79"/>
                <a:ea typeface="Calibri" panose="020F0502020204030204" pitchFamily="34" charset="0"/>
                <a:cs typeface="Aharoni" panose="02010803020104030203" pitchFamily="2" charset="-79"/>
              </a:rPr>
              <a:t> et al  proposed methodology to identify customer behavior in terms of spending and location. The study uses the KMEAN clustering algorithm to analyze customer spending behavior and identify unusual transactions. The study also looks at the geographical location of transactions to detect suspicious activity.</a:t>
            </a:r>
            <a:endParaRPr lang="en-GB" sz="1400" dirty="0">
              <a:effectLst/>
              <a:latin typeface="Aharoni" panose="02010803020104030203" pitchFamily="2" charset="-79"/>
              <a:ea typeface="Calibri" panose="020F0502020204030204" pitchFamily="34" charset="0"/>
              <a:cs typeface="Aharoni" panose="02010803020104030203" pitchFamily="2" charset="-79"/>
            </a:endParaRPr>
          </a:p>
          <a:p>
            <a:pPr>
              <a:lnSpc>
                <a:spcPct val="107000"/>
              </a:lnSpc>
              <a:spcAft>
                <a:spcPts val="800"/>
              </a:spcAft>
            </a:pPr>
            <a:endParaRPr lang="en-GB" sz="1600" dirty="0">
              <a:effectLst/>
              <a:latin typeface="Aharoni" panose="02010803020104030203" pitchFamily="2" charset="-79"/>
              <a:ea typeface="Calibri" panose="020F0502020204030204" pitchFamily="34" charset="0"/>
              <a:cs typeface="Aharoni" panose="02010803020104030203" pitchFamily="2" charset="-79"/>
            </a:endParaRPr>
          </a:p>
        </p:txBody>
      </p:sp>
      <p:sp>
        <p:nvSpPr>
          <p:cNvPr id="38" name="TextBox 37">
            <a:extLst>
              <a:ext uri="{FF2B5EF4-FFF2-40B4-BE49-F238E27FC236}">
                <a16:creationId xmlns:a16="http://schemas.microsoft.com/office/drawing/2014/main" id="{EE6409D0-1BDE-676E-BC24-198E75B04B89}"/>
              </a:ext>
            </a:extLst>
          </p:cNvPr>
          <p:cNvSpPr txBox="1"/>
          <p:nvPr/>
        </p:nvSpPr>
        <p:spPr>
          <a:xfrm>
            <a:off x="297180" y="3651509"/>
            <a:ext cx="5067300" cy="549638"/>
          </a:xfrm>
          <a:prstGeom prst="rect">
            <a:avLst/>
          </a:prstGeom>
          <a:noFill/>
        </p:spPr>
        <p:txBody>
          <a:bodyPr wrap="square">
            <a:spAutoFit/>
          </a:bodyPr>
          <a:lstStyle/>
          <a:p>
            <a:pPr algn="just">
              <a:lnSpc>
                <a:spcPct val="107000"/>
              </a:lnSpc>
              <a:spcAft>
                <a:spcPts val="800"/>
              </a:spcAft>
            </a:pPr>
            <a:r>
              <a:rPr lang="en-US" sz="1400" dirty="0">
                <a:effectLst/>
                <a:latin typeface="Aharoni" panose="02010803020104030203" pitchFamily="2" charset="-79"/>
                <a:ea typeface="Calibri" panose="020F0502020204030204" pitchFamily="34" charset="0"/>
                <a:cs typeface="Aharoni" panose="02010803020104030203" pitchFamily="2" charset="-79"/>
              </a:rPr>
              <a:t>Their results are: 492 fraudulent in 284,807 transactions, representing 0.17% of the total transactions</a:t>
            </a:r>
            <a:endParaRPr lang="en-GB" sz="1100" dirty="0">
              <a:effectLst/>
              <a:latin typeface="Aharoni" panose="02010803020104030203" pitchFamily="2" charset="-79"/>
              <a:ea typeface="Calibri" panose="020F0502020204030204" pitchFamily="34" charset="0"/>
              <a:cs typeface="Aharoni" panose="02010803020104030203" pitchFamily="2" charset="-79"/>
            </a:endParaRPr>
          </a:p>
        </p:txBody>
      </p:sp>
      <p:sp>
        <p:nvSpPr>
          <p:cNvPr id="3" name="TextBox 2">
            <a:extLst>
              <a:ext uri="{FF2B5EF4-FFF2-40B4-BE49-F238E27FC236}">
                <a16:creationId xmlns:a16="http://schemas.microsoft.com/office/drawing/2014/main" id="{2C716AB6-D6C0-FBD5-8435-13B8DC51EA07}"/>
              </a:ext>
            </a:extLst>
          </p:cNvPr>
          <p:cNvSpPr txBox="1"/>
          <p:nvPr/>
        </p:nvSpPr>
        <p:spPr>
          <a:xfrm>
            <a:off x="285964" y="4295034"/>
            <a:ext cx="5078516" cy="1471685"/>
          </a:xfrm>
          <a:prstGeom prst="rect">
            <a:avLst/>
          </a:prstGeom>
          <a:noFill/>
        </p:spPr>
        <p:txBody>
          <a:bodyPr wrap="square">
            <a:spAutoFit/>
          </a:bodyPr>
          <a:lstStyle/>
          <a:p>
            <a:pPr algn="just">
              <a:lnSpc>
                <a:spcPct val="107000"/>
              </a:lnSpc>
              <a:spcAft>
                <a:spcPts val="800"/>
              </a:spcAft>
            </a:pPr>
            <a:r>
              <a:rPr lang="en-US" sz="1400" dirty="0">
                <a:effectLst/>
                <a:latin typeface="Aharoni" panose="02010803020104030203" pitchFamily="2" charset="-79"/>
                <a:ea typeface="Calibri" panose="020F0502020204030204" pitchFamily="34" charset="0"/>
                <a:cs typeface="Aharoni" panose="02010803020104030203" pitchFamily="2" charset="-79"/>
              </a:rPr>
              <a:t>Though their work is efficient but the </a:t>
            </a:r>
            <a:r>
              <a:rPr lang="en-GB" sz="1400" dirty="0">
                <a:solidFill>
                  <a:srgbClr val="000000"/>
                </a:solidFill>
                <a:effectLst/>
                <a:latin typeface="Aharoni" panose="02010803020104030203" pitchFamily="2" charset="-79"/>
                <a:ea typeface="Times New Roman" panose="02020603050405020304" pitchFamily="18" charset="0"/>
                <a:cs typeface="Aharoni" panose="02010803020104030203" pitchFamily="2" charset="-79"/>
              </a:rPr>
              <a:t>data set is severely skewed, with fewer fraudulent transactions than real ones. This makes training and evaluating the model and detecting unusual and innovative fraud challenging. The model may not apply to other client categories or fraud trends.</a:t>
            </a:r>
            <a:endParaRPr lang="en-GB" sz="1400" dirty="0">
              <a:effectLst/>
              <a:latin typeface="Aharoni" panose="02010803020104030203" pitchFamily="2" charset="-79"/>
              <a:ea typeface="Calibri" panose="020F0502020204030204" pitchFamily="34" charset="0"/>
              <a:cs typeface="Aharoni" panose="02010803020104030203" pitchFamily="2" charset="-79"/>
            </a:endParaRPr>
          </a:p>
        </p:txBody>
      </p:sp>
      <p:pic>
        <p:nvPicPr>
          <p:cNvPr id="6" name="Picture 5">
            <a:extLst>
              <a:ext uri="{FF2B5EF4-FFF2-40B4-BE49-F238E27FC236}">
                <a16:creationId xmlns:a16="http://schemas.microsoft.com/office/drawing/2014/main" id="{A9751F6B-4983-EC18-15C7-97632CEF5AD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22930" y="2244550"/>
            <a:ext cx="2613427" cy="2943544"/>
          </a:xfrm>
          <a:prstGeom prst="rect">
            <a:avLst/>
          </a:prstGeom>
          <a:noFill/>
          <a:ln>
            <a:noFill/>
          </a:ln>
        </p:spPr>
      </p:pic>
      <p:pic>
        <p:nvPicPr>
          <p:cNvPr id="8" name="Picture 7">
            <a:extLst>
              <a:ext uri="{FF2B5EF4-FFF2-40B4-BE49-F238E27FC236}">
                <a16:creationId xmlns:a16="http://schemas.microsoft.com/office/drawing/2014/main" id="{46F961F0-F838-94A2-663D-13652C8414F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04127" y="2327476"/>
            <a:ext cx="3390693" cy="2785068"/>
          </a:xfrm>
          <a:prstGeom prst="rect">
            <a:avLst/>
          </a:prstGeom>
          <a:noFill/>
          <a:ln>
            <a:noFill/>
          </a:ln>
        </p:spPr>
      </p:pic>
      <p:sp>
        <p:nvSpPr>
          <p:cNvPr id="9" name="Rectangle 8">
            <a:extLst>
              <a:ext uri="{FF2B5EF4-FFF2-40B4-BE49-F238E27FC236}">
                <a16:creationId xmlns:a16="http://schemas.microsoft.com/office/drawing/2014/main" id="{9EFEB46E-CA25-E1E8-A875-B06865858483}"/>
              </a:ext>
            </a:extLst>
          </p:cNvPr>
          <p:cNvSpPr/>
          <p:nvPr/>
        </p:nvSpPr>
        <p:spPr>
          <a:xfrm>
            <a:off x="11253962" y="6555242"/>
            <a:ext cx="857927" cy="369332"/>
          </a:xfrm>
          <a:prstGeom prst="rect">
            <a:avLst/>
          </a:prstGeom>
          <a:noFill/>
        </p:spPr>
        <p:txBody>
          <a:bodyPr wrap="none" lIns="91440" tIns="45720" rIns="91440" bIns="45720">
            <a:spAutoFit/>
          </a:bodyPr>
          <a:lstStyle/>
          <a:p>
            <a:pPr algn="ctr"/>
            <a:r>
              <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Page </a:t>
            </a:r>
            <a:r>
              <a:rPr lang="en-US"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05</a:t>
            </a:r>
            <a:endPar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646149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FF18B7-52E0-337C-0E52-95678D965479}"/>
              </a:ext>
            </a:extLst>
          </p:cNvPr>
          <p:cNvSpPr/>
          <p:nvPr/>
        </p:nvSpPr>
        <p:spPr>
          <a:xfrm>
            <a:off x="0" y="-1"/>
            <a:ext cx="12192000" cy="891251"/>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898F8506-C956-09CF-582B-3AF2F8719A77}"/>
              </a:ext>
            </a:extLst>
          </p:cNvPr>
          <p:cNvSpPr/>
          <p:nvPr/>
        </p:nvSpPr>
        <p:spPr>
          <a:xfrm>
            <a:off x="0" y="6624320"/>
            <a:ext cx="12192000" cy="248920"/>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3BF8A241-0DCE-3D51-1F15-53E18E4A02A8}"/>
              </a:ext>
            </a:extLst>
          </p:cNvPr>
          <p:cNvSpPr/>
          <p:nvPr/>
        </p:nvSpPr>
        <p:spPr>
          <a:xfrm>
            <a:off x="-104172" y="-1"/>
            <a:ext cx="1145894" cy="891251"/>
          </a:xfrm>
          <a:prstGeom prst="roundRect">
            <a:avLst/>
          </a:prstGeom>
          <a:solidFill>
            <a:srgbClr val="EE4B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3D07A22-C7CE-ADC4-CD58-3E7BC2935F00}"/>
              </a:ext>
            </a:extLst>
          </p:cNvPr>
          <p:cNvSpPr/>
          <p:nvPr/>
        </p:nvSpPr>
        <p:spPr>
          <a:xfrm>
            <a:off x="3146317" y="0"/>
            <a:ext cx="5899371" cy="923330"/>
          </a:xfrm>
          <a:prstGeom prst="rect">
            <a:avLst/>
          </a:prstGeom>
          <a:noFill/>
        </p:spPr>
        <p:txBody>
          <a:bodyPr wrap="none" lIns="91440" tIns="45720" rIns="91440" bIns="45720">
            <a:spAutoFit/>
          </a:bodyPr>
          <a:lstStyle/>
          <a:p>
            <a:pPr algn="ctr"/>
            <a:r>
              <a:rPr lang="en-US" sz="4400" b="1"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Critical</a:t>
            </a:r>
            <a:r>
              <a:rPr lang="en-US" sz="5400" b="1"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 Challenges</a:t>
            </a:r>
            <a:endParaRPr lang="en-US" sz="5400" b="1" cap="none" spc="0"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2" name="Rectangle 11">
            <a:extLst>
              <a:ext uri="{FF2B5EF4-FFF2-40B4-BE49-F238E27FC236}">
                <a16:creationId xmlns:a16="http://schemas.microsoft.com/office/drawing/2014/main" id="{F4D31A2A-AFAE-A898-19DB-F312EEFA24DF}"/>
              </a:ext>
            </a:extLst>
          </p:cNvPr>
          <p:cNvSpPr/>
          <p:nvPr/>
        </p:nvSpPr>
        <p:spPr>
          <a:xfrm>
            <a:off x="89504" y="-32080"/>
            <a:ext cx="758541" cy="923330"/>
          </a:xfrm>
          <a:prstGeom prst="rect">
            <a:avLst/>
          </a:prstGeom>
          <a:noFill/>
        </p:spPr>
        <p:txBody>
          <a:bodyPr wrap="none" lIns="91440" tIns="45720" rIns="91440" bIns="45720">
            <a:spAutoFit/>
          </a:bodyPr>
          <a:lstStyle/>
          <a:p>
            <a:pPr algn="ctr"/>
            <a:r>
              <a:rPr lang="en-US" sz="5400" b="1"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05</a:t>
            </a:r>
          </a:p>
        </p:txBody>
      </p:sp>
      <p:grpSp>
        <p:nvGrpSpPr>
          <p:cNvPr id="13" name="Group 12">
            <a:extLst>
              <a:ext uri="{FF2B5EF4-FFF2-40B4-BE49-F238E27FC236}">
                <a16:creationId xmlns:a16="http://schemas.microsoft.com/office/drawing/2014/main" id="{9FA46EBF-CEB3-21A0-9922-9E2EC72E67DA}"/>
              </a:ext>
            </a:extLst>
          </p:cNvPr>
          <p:cNvGrpSpPr/>
          <p:nvPr/>
        </p:nvGrpSpPr>
        <p:grpSpPr>
          <a:xfrm>
            <a:off x="439221" y="1648213"/>
            <a:ext cx="10891324" cy="945308"/>
            <a:chOff x="196506" y="1429060"/>
            <a:chExt cx="10891324" cy="945308"/>
          </a:xfrm>
        </p:grpSpPr>
        <p:sp>
          <p:nvSpPr>
            <p:cNvPr id="2" name="Rectangle: Rounded Corners 1">
              <a:extLst>
                <a:ext uri="{FF2B5EF4-FFF2-40B4-BE49-F238E27FC236}">
                  <a16:creationId xmlns:a16="http://schemas.microsoft.com/office/drawing/2014/main" id="{79B2CF37-7D57-9FC9-C349-4FC96F4A5673}"/>
                </a:ext>
              </a:extLst>
            </p:cNvPr>
            <p:cNvSpPr/>
            <p:nvPr/>
          </p:nvSpPr>
          <p:spPr>
            <a:xfrm>
              <a:off x="1253272" y="1483117"/>
              <a:ext cx="9834558" cy="891251"/>
            </a:xfrm>
            <a:prstGeom prst="roundRect">
              <a:avLst/>
            </a:prstGeom>
            <a:noFill/>
            <a:ln w="38100">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FAE251CD-98F5-9405-9647-BFB87AC05545}"/>
                </a:ext>
              </a:extLst>
            </p:cNvPr>
            <p:cNvSpPr/>
            <p:nvPr/>
          </p:nvSpPr>
          <p:spPr>
            <a:xfrm>
              <a:off x="1390271" y="1574799"/>
              <a:ext cx="9411458" cy="707886"/>
            </a:xfrm>
            <a:prstGeom prst="rect">
              <a:avLst/>
            </a:prstGeom>
            <a:noFill/>
          </p:spPr>
          <p:txBody>
            <a:bodyPr wrap="square" lIns="91440" tIns="45720" rIns="91440" bIns="45720">
              <a:spAutoFit/>
            </a:bodyPr>
            <a:lstStyle/>
            <a:p>
              <a:pPr algn="ctr"/>
              <a:r>
                <a:rPr lang="en-GB" sz="2000" dirty="0">
                  <a:latin typeface="Aharoni" panose="02010803020104030203" pitchFamily="2" charset="-79"/>
                  <a:cs typeface="Aharoni" panose="02010803020104030203" pitchFamily="2" charset="-79"/>
                </a:rPr>
                <a:t>Data collection is difficult due to the involvement of sensitive customer data, making privacy and data security critical concerns</a:t>
              </a:r>
              <a:r>
                <a:rPr lang="en-GB" sz="1000" dirty="0">
                  <a:latin typeface="Aharoni" panose="02010803020104030203" pitchFamily="2" charset="-79"/>
                  <a:cs typeface="Aharoni" panose="02010803020104030203" pitchFamily="2" charset="-79"/>
                </a:rPr>
                <a:t>.</a:t>
              </a:r>
              <a:endParaRPr lang="en-US" sz="1000" b="0" cap="none" spc="0" dirty="0">
                <a:ln w="0"/>
                <a:solidFill>
                  <a:schemeClr val="tx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8" name="Oval 7">
              <a:extLst>
                <a:ext uri="{FF2B5EF4-FFF2-40B4-BE49-F238E27FC236}">
                  <a16:creationId xmlns:a16="http://schemas.microsoft.com/office/drawing/2014/main" id="{88C6FB86-B696-7134-2D47-5C5F2E32813E}"/>
                </a:ext>
              </a:extLst>
            </p:cNvPr>
            <p:cNvSpPr/>
            <p:nvPr/>
          </p:nvSpPr>
          <p:spPr>
            <a:xfrm>
              <a:off x="196506" y="1461139"/>
              <a:ext cx="845216" cy="891251"/>
            </a:xfrm>
            <a:prstGeom prst="ellipse">
              <a:avLst/>
            </a:prstGeom>
            <a:solidFill>
              <a:srgbClr val="2F1F2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BDB47717-53B5-6DB1-6C14-EFD5B8A9E077}"/>
                </a:ext>
              </a:extLst>
            </p:cNvPr>
            <p:cNvSpPr/>
            <p:nvPr/>
          </p:nvSpPr>
          <p:spPr>
            <a:xfrm>
              <a:off x="376441" y="1429060"/>
              <a:ext cx="471604" cy="923330"/>
            </a:xfrm>
            <a:prstGeom prst="rect">
              <a:avLst/>
            </a:prstGeom>
            <a:noFill/>
          </p:spPr>
          <p:txBody>
            <a:bodyPr wrap="none" lIns="91440" tIns="45720" rIns="91440" bIns="45720">
              <a:spAutoFit/>
            </a:bodyPr>
            <a:lstStyle/>
            <a:p>
              <a:pPr algn="ctr"/>
              <a:r>
                <a:rPr lang="en-US" sz="5400" b="1"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1</a:t>
              </a:r>
              <a:endParaRPr lang="en-US" sz="5400" b="1"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grpSp>
      <p:grpSp>
        <p:nvGrpSpPr>
          <p:cNvPr id="14" name="Group 13">
            <a:extLst>
              <a:ext uri="{FF2B5EF4-FFF2-40B4-BE49-F238E27FC236}">
                <a16:creationId xmlns:a16="http://schemas.microsoft.com/office/drawing/2014/main" id="{84B5817D-7F98-8DA2-0EE9-8B97703F34A3}"/>
              </a:ext>
            </a:extLst>
          </p:cNvPr>
          <p:cNvGrpSpPr/>
          <p:nvPr/>
        </p:nvGrpSpPr>
        <p:grpSpPr>
          <a:xfrm>
            <a:off x="439221" y="3230699"/>
            <a:ext cx="10891324" cy="945308"/>
            <a:chOff x="196506" y="1429060"/>
            <a:chExt cx="10891324" cy="945308"/>
          </a:xfrm>
        </p:grpSpPr>
        <p:sp>
          <p:nvSpPr>
            <p:cNvPr id="15" name="Rectangle: Rounded Corners 14">
              <a:extLst>
                <a:ext uri="{FF2B5EF4-FFF2-40B4-BE49-F238E27FC236}">
                  <a16:creationId xmlns:a16="http://schemas.microsoft.com/office/drawing/2014/main" id="{CC13AA57-5ED1-0444-B141-43C18EC329BE}"/>
                </a:ext>
              </a:extLst>
            </p:cNvPr>
            <p:cNvSpPr/>
            <p:nvPr/>
          </p:nvSpPr>
          <p:spPr>
            <a:xfrm>
              <a:off x="1253272" y="1483117"/>
              <a:ext cx="9834558" cy="891251"/>
            </a:xfrm>
            <a:prstGeom prst="roundRect">
              <a:avLst/>
            </a:prstGeom>
            <a:noFill/>
            <a:ln w="38100">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15">
              <a:extLst>
                <a:ext uri="{FF2B5EF4-FFF2-40B4-BE49-F238E27FC236}">
                  <a16:creationId xmlns:a16="http://schemas.microsoft.com/office/drawing/2014/main" id="{7A1A4D96-1A37-6CBD-6046-14AA2F675AD5}"/>
                </a:ext>
              </a:extLst>
            </p:cNvPr>
            <p:cNvSpPr/>
            <p:nvPr/>
          </p:nvSpPr>
          <p:spPr>
            <a:xfrm>
              <a:off x="1390271" y="1599455"/>
              <a:ext cx="9626114" cy="646331"/>
            </a:xfrm>
            <a:prstGeom prst="rect">
              <a:avLst/>
            </a:prstGeom>
            <a:noFill/>
          </p:spPr>
          <p:txBody>
            <a:bodyPr wrap="square" lIns="91440" tIns="45720" rIns="91440" bIns="45720">
              <a:spAutoFit/>
            </a:bodyPr>
            <a:lstStyle/>
            <a:p>
              <a:pPr algn="ctr"/>
              <a:r>
                <a:rPr lang="en-GB" dirty="0">
                  <a:latin typeface="Aharoni" panose="02010803020104030203" pitchFamily="2" charset="-79"/>
                  <a:cs typeface="Aharoni" panose="02010803020104030203" pitchFamily="2" charset="-79"/>
                </a:rPr>
                <a:t>Significant volume of data, making it time-consuming and challenging to identify the most important characteristics of the dataset</a:t>
              </a:r>
              <a:endParaRPr lang="en-US" b="0" cap="none" spc="0" dirty="0">
                <a:ln w="0"/>
                <a:solidFill>
                  <a:schemeClr val="tx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7" name="Oval 16">
              <a:extLst>
                <a:ext uri="{FF2B5EF4-FFF2-40B4-BE49-F238E27FC236}">
                  <a16:creationId xmlns:a16="http://schemas.microsoft.com/office/drawing/2014/main" id="{22F18AC8-D7D8-03E6-3BEC-6D72049BA5BC}"/>
                </a:ext>
              </a:extLst>
            </p:cNvPr>
            <p:cNvSpPr/>
            <p:nvPr/>
          </p:nvSpPr>
          <p:spPr>
            <a:xfrm>
              <a:off x="196506" y="1461139"/>
              <a:ext cx="845216" cy="891251"/>
            </a:xfrm>
            <a:prstGeom prst="ellipse">
              <a:avLst/>
            </a:prstGeom>
            <a:solidFill>
              <a:srgbClr val="2F1F2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99DD93F5-66FB-9EED-BD52-C6BCE4C2368B}"/>
                </a:ext>
              </a:extLst>
            </p:cNvPr>
            <p:cNvSpPr/>
            <p:nvPr/>
          </p:nvSpPr>
          <p:spPr>
            <a:xfrm>
              <a:off x="376441" y="1429060"/>
              <a:ext cx="471604" cy="923330"/>
            </a:xfrm>
            <a:prstGeom prst="rect">
              <a:avLst/>
            </a:prstGeom>
            <a:noFill/>
          </p:spPr>
          <p:txBody>
            <a:bodyPr wrap="none" lIns="91440" tIns="45720" rIns="91440" bIns="45720">
              <a:spAutoFit/>
            </a:bodyPr>
            <a:lstStyle/>
            <a:p>
              <a:pPr algn="ctr"/>
              <a:r>
                <a:rPr lang="en-US" sz="5400" b="1"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2</a:t>
              </a:r>
            </a:p>
          </p:txBody>
        </p:sp>
      </p:grpSp>
      <p:grpSp>
        <p:nvGrpSpPr>
          <p:cNvPr id="21" name="Group 20">
            <a:extLst>
              <a:ext uri="{FF2B5EF4-FFF2-40B4-BE49-F238E27FC236}">
                <a16:creationId xmlns:a16="http://schemas.microsoft.com/office/drawing/2014/main" id="{1160F36E-1BFB-20F2-1D84-C46970F89728}"/>
              </a:ext>
            </a:extLst>
          </p:cNvPr>
          <p:cNvGrpSpPr/>
          <p:nvPr/>
        </p:nvGrpSpPr>
        <p:grpSpPr>
          <a:xfrm>
            <a:off x="468774" y="4737133"/>
            <a:ext cx="10891324" cy="945308"/>
            <a:chOff x="196506" y="1429060"/>
            <a:chExt cx="10891324" cy="945308"/>
          </a:xfrm>
        </p:grpSpPr>
        <p:sp>
          <p:nvSpPr>
            <p:cNvPr id="22" name="Rectangle: Rounded Corners 21">
              <a:extLst>
                <a:ext uri="{FF2B5EF4-FFF2-40B4-BE49-F238E27FC236}">
                  <a16:creationId xmlns:a16="http://schemas.microsoft.com/office/drawing/2014/main" id="{F4DB544A-0D23-00D3-9CD2-304FAB813B65}"/>
                </a:ext>
              </a:extLst>
            </p:cNvPr>
            <p:cNvSpPr/>
            <p:nvPr/>
          </p:nvSpPr>
          <p:spPr>
            <a:xfrm>
              <a:off x="1253272" y="1483117"/>
              <a:ext cx="9834558" cy="891251"/>
            </a:xfrm>
            <a:prstGeom prst="roundRect">
              <a:avLst/>
            </a:prstGeom>
            <a:noFill/>
            <a:ln w="38100">
              <a:solidFill>
                <a:srgbClr val="3A272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7F7381EB-7FD3-2124-D2C0-8E2587026AFA}"/>
                </a:ext>
              </a:extLst>
            </p:cNvPr>
            <p:cNvSpPr/>
            <p:nvPr/>
          </p:nvSpPr>
          <p:spPr>
            <a:xfrm>
              <a:off x="1390271" y="1599455"/>
              <a:ext cx="9626114" cy="646331"/>
            </a:xfrm>
            <a:prstGeom prst="rect">
              <a:avLst/>
            </a:prstGeom>
            <a:noFill/>
          </p:spPr>
          <p:txBody>
            <a:bodyPr wrap="square" lIns="91440" tIns="45720" rIns="91440" bIns="45720">
              <a:spAutoFit/>
            </a:bodyPr>
            <a:lstStyle/>
            <a:p>
              <a:pPr algn="ctr"/>
              <a:r>
                <a:rPr lang="en-GB" dirty="0">
                  <a:latin typeface="Aharoni" panose="02010803020104030203" pitchFamily="2" charset="-79"/>
                  <a:cs typeface="Aharoni" panose="02010803020104030203" pitchFamily="2" charset="-79"/>
                </a:rPr>
                <a:t>Fraudulent transactions are rare in comparison to genuine transactions, resulting in imbalanced datasets.</a:t>
              </a:r>
              <a:endParaRPr lang="en-US" b="0" cap="none" spc="0" dirty="0">
                <a:ln w="0"/>
                <a:solidFill>
                  <a:schemeClr val="tx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24" name="Oval 23">
              <a:extLst>
                <a:ext uri="{FF2B5EF4-FFF2-40B4-BE49-F238E27FC236}">
                  <a16:creationId xmlns:a16="http://schemas.microsoft.com/office/drawing/2014/main" id="{A34546F7-1D92-4805-D4A2-5C97FD727142}"/>
                </a:ext>
              </a:extLst>
            </p:cNvPr>
            <p:cNvSpPr/>
            <p:nvPr/>
          </p:nvSpPr>
          <p:spPr>
            <a:xfrm>
              <a:off x="196506" y="1461139"/>
              <a:ext cx="845216" cy="891251"/>
            </a:xfrm>
            <a:prstGeom prst="ellipse">
              <a:avLst/>
            </a:prstGeom>
            <a:solidFill>
              <a:srgbClr val="2F1F2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99270FC1-F79F-946C-CE3F-71967CDCCC36}"/>
                </a:ext>
              </a:extLst>
            </p:cNvPr>
            <p:cNvSpPr/>
            <p:nvPr/>
          </p:nvSpPr>
          <p:spPr>
            <a:xfrm>
              <a:off x="376441" y="1429060"/>
              <a:ext cx="471604" cy="923330"/>
            </a:xfrm>
            <a:prstGeom prst="rect">
              <a:avLst/>
            </a:prstGeom>
            <a:noFill/>
          </p:spPr>
          <p:txBody>
            <a:bodyPr wrap="none" lIns="91440" tIns="45720" rIns="91440" bIns="45720">
              <a:spAutoFit/>
            </a:bodyPr>
            <a:lstStyle/>
            <a:p>
              <a:pPr algn="ctr"/>
              <a:r>
                <a:rPr lang="en-US" sz="5400" b="1"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3</a:t>
              </a:r>
              <a:endParaRPr lang="en-US" sz="5400" b="1"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grpSp>
      <p:sp>
        <p:nvSpPr>
          <p:cNvPr id="26" name="Rectangle 25">
            <a:extLst>
              <a:ext uri="{FF2B5EF4-FFF2-40B4-BE49-F238E27FC236}">
                <a16:creationId xmlns:a16="http://schemas.microsoft.com/office/drawing/2014/main" id="{920A0872-B036-5EDC-47F8-69CDE4C9FDA4}"/>
              </a:ext>
            </a:extLst>
          </p:cNvPr>
          <p:cNvSpPr/>
          <p:nvPr/>
        </p:nvSpPr>
        <p:spPr>
          <a:xfrm>
            <a:off x="11253962" y="6555242"/>
            <a:ext cx="857927" cy="369332"/>
          </a:xfrm>
          <a:prstGeom prst="rect">
            <a:avLst/>
          </a:prstGeom>
          <a:noFill/>
        </p:spPr>
        <p:txBody>
          <a:bodyPr wrap="none" lIns="91440" tIns="45720" rIns="91440" bIns="45720">
            <a:spAutoFit/>
          </a:bodyPr>
          <a:lstStyle/>
          <a:p>
            <a:pPr algn="ctr"/>
            <a:r>
              <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Page </a:t>
            </a:r>
            <a:r>
              <a:rPr lang="en-US"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06</a:t>
            </a:r>
            <a:endPar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2976002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FF18B7-52E0-337C-0E52-95678D965479}"/>
              </a:ext>
            </a:extLst>
          </p:cNvPr>
          <p:cNvSpPr/>
          <p:nvPr/>
        </p:nvSpPr>
        <p:spPr>
          <a:xfrm>
            <a:off x="0" y="-1"/>
            <a:ext cx="12192000" cy="891251"/>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898F8506-C956-09CF-582B-3AF2F8719A77}"/>
              </a:ext>
            </a:extLst>
          </p:cNvPr>
          <p:cNvSpPr/>
          <p:nvPr/>
        </p:nvSpPr>
        <p:spPr>
          <a:xfrm>
            <a:off x="0" y="6624320"/>
            <a:ext cx="12192000" cy="248920"/>
          </a:xfrm>
          <a:prstGeom prst="rect">
            <a:avLst/>
          </a:prstGeom>
          <a:solidFill>
            <a:srgbClr val="3A2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Rounded Corners 6">
            <a:extLst>
              <a:ext uri="{FF2B5EF4-FFF2-40B4-BE49-F238E27FC236}">
                <a16:creationId xmlns:a16="http://schemas.microsoft.com/office/drawing/2014/main" id="{3BF8A241-0DCE-3D51-1F15-53E18E4A02A8}"/>
              </a:ext>
            </a:extLst>
          </p:cNvPr>
          <p:cNvSpPr/>
          <p:nvPr/>
        </p:nvSpPr>
        <p:spPr>
          <a:xfrm>
            <a:off x="-104172" y="-1"/>
            <a:ext cx="1145894" cy="891251"/>
          </a:xfrm>
          <a:prstGeom prst="roundRect">
            <a:avLst/>
          </a:prstGeom>
          <a:solidFill>
            <a:srgbClr val="EE4B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13D07A22-C7CE-ADC4-CD58-3E7BC2935F00}"/>
              </a:ext>
            </a:extLst>
          </p:cNvPr>
          <p:cNvSpPr/>
          <p:nvPr/>
        </p:nvSpPr>
        <p:spPr>
          <a:xfrm>
            <a:off x="4205097" y="0"/>
            <a:ext cx="3781805" cy="769441"/>
          </a:xfrm>
          <a:prstGeom prst="rect">
            <a:avLst/>
          </a:prstGeom>
          <a:noFill/>
        </p:spPr>
        <p:txBody>
          <a:bodyPr wrap="none" lIns="91440" tIns="45720" rIns="91440" bIns="45720">
            <a:spAutoFit/>
          </a:bodyPr>
          <a:lstStyle/>
          <a:p>
            <a:pPr algn="ctr"/>
            <a:r>
              <a:rPr lang="en-US" sz="4400" b="1" cap="none" spc="0"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Methodology</a:t>
            </a:r>
            <a:endParaRPr lang="en-US" sz="5400" b="1" cap="none" spc="0" dirty="0">
              <a:ln w="0"/>
              <a:solidFill>
                <a:srgbClr val="FFFFFF"/>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2" name="Rectangle 11">
            <a:extLst>
              <a:ext uri="{FF2B5EF4-FFF2-40B4-BE49-F238E27FC236}">
                <a16:creationId xmlns:a16="http://schemas.microsoft.com/office/drawing/2014/main" id="{F4D31A2A-AFAE-A898-19DB-F312EEFA24DF}"/>
              </a:ext>
            </a:extLst>
          </p:cNvPr>
          <p:cNvSpPr/>
          <p:nvPr/>
        </p:nvSpPr>
        <p:spPr>
          <a:xfrm>
            <a:off x="89504" y="-32080"/>
            <a:ext cx="758541" cy="923330"/>
          </a:xfrm>
          <a:prstGeom prst="rect">
            <a:avLst/>
          </a:prstGeom>
          <a:noFill/>
        </p:spPr>
        <p:txBody>
          <a:bodyPr wrap="none" lIns="91440" tIns="45720" rIns="91440" bIns="45720">
            <a:spAutoFit/>
          </a:bodyPr>
          <a:lstStyle/>
          <a:p>
            <a:pPr algn="ctr"/>
            <a:r>
              <a:rPr lang="en-US" sz="5400" b="1" cap="none" spc="0" dirty="0">
                <a:ln w="0"/>
                <a:solidFill>
                  <a:srgbClr val="2F1F22"/>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05</a:t>
            </a:r>
          </a:p>
        </p:txBody>
      </p:sp>
      <p:pic>
        <p:nvPicPr>
          <p:cNvPr id="3" name="Picture 2">
            <a:extLst>
              <a:ext uri="{FF2B5EF4-FFF2-40B4-BE49-F238E27FC236}">
                <a16:creationId xmlns:a16="http://schemas.microsoft.com/office/drawing/2014/main" id="{0B93B0F3-F7B2-D354-F53A-FDA799FF4E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720" y="891250"/>
            <a:ext cx="11592560" cy="5654877"/>
          </a:xfrm>
          <a:prstGeom prst="rect">
            <a:avLst/>
          </a:prstGeom>
        </p:spPr>
      </p:pic>
      <p:sp>
        <p:nvSpPr>
          <p:cNvPr id="6" name="Rectangle 5">
            <a:extLst>
              <a:ext uri="{FF2B5EF4-FFF2-40B4-BE49-F238E27FC236}">
                <a16:creationId xmlns:a16="http://schemas.microsoft.com/office/drawing/2014/main" id="{E32834D3-F335-BF92-1A96-B2BBC99167AA}"/>
              </a:ext>
            </a:extLst>
          </p:cNvPr>
          <p:cNvSpPr/>
          <p:nvPr/>
        </p:nvSpPr>
        <p:spPr>
          <a:xfrm>
            <a:off x="11253962" y="6555242"/>
            <a:ext cx="857927" cy="369332"/>
          </a:xfrm>
          <a:prstGeom prst="rect">
            <a:avLst/>
          </a:prstGeom>
          <a:noFill/>
        </p:spPr>
        <p:txBody>
          <a:bodyPr wrap="none" lIns="91440" tIns="45720" rIns="91440" bIns="45720">
            <a:spAutoFit/>
          </a:bodyPr>
          <a:lstStyle/>
          <a:p>
            <a:pPr algn="ctr"/>
            <a:r>
              <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Page </a:t>
            </a:r>
            <a:r>
              <a:rPr lang="en-US"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07</a:t>
            </a:r>
            <a:endParaRPr lang="en-US" sz="14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1714973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223</TotalTime>
  <Words>654</Words>
  <Application>Microsoft Office PowerPoint</Application>
  <PresentationFormat>Widescreen</PresentationFormat>
  <Paragraphs>82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Aharoni</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Nahida Fatme</dc:creator>
  <cp:lastModifiedBy>Nahida Fatme</cp:lastModifiedBy>
  <cp:revision>1</cp:revision>
  <dcterms:created xsi:type="dcterms:W3CDTF">2023-07-22T17:08:01Z</dcterms:created>
  <dcterms:modified xsi:type="dcterms:W3CDTF">2023-07-22T20:51:18Z</dcterms:modified>
</cp:coreProperties>
</file>